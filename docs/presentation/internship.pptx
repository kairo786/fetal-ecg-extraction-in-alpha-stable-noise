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37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CA06-36B6-934F-E0D2-D5221BBA0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D1156-F1F9-A071-BAC6-75FA0CCFD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52D94-53E4-D1AE-DCFE-4018D0C6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C174E-CDC0-4C62-BF1A-2DD0289E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F8210-0E9A-355E-66BF-EAE76440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84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DA5ED-B24D-9E36-327B-1E7921EE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29338-D9F3-830A-FFA5-9FE94341F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1DE9C-9850-2A66-2AA2-B0B4E06D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0FA6D-C95F-1014-0316-4CC3A12B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6B10B-F723-41C7-2639-5291E753F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67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B16FE-5E8B-8D42-7941-9F6A19D0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08E56-7456-3CBE-CE3F-47F51F5BD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F4A9F-DF97-E97B-0B84-3234B5495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4A7CA-7AE2-14F1-44DC-37E1BD345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DA773-617E-8D49-2CE3-087F896E8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3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AEC1-0164-77FE-4EE1-25AA0766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5D90B-9D3B-EF5E-DD67-3F022B900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51C1A-FF18-E662-D0ED-B71B2E4C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DB51C-E462-1306-6926-D3E989D6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4F99F-5F1E-7655-2EE5-78C53DCB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9B43A-4D5C-CED0-B3EB-ADCA2C52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81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2EFC-F5A4-833E-AA72-DAEF51E3E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F8592-8E2C-9F95-AC16-466EE5AE6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72AF5-2AA1-F676-E191-348F7A0B0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BF36A-111F-9785-2506-5DEF7D107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B5A52-A206-C2AE-A28D-69EB6339A7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720A43-4117-083F-923F-9D17F86C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8B5077-AEAA-9224-B152-B42139FE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8E6FB-280E-24A7-41BD-E44B44681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8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D64B-4720-250E-D873-F5AE0910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BEEC8B-8F28-4C53-DDAC-164097D3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30DD6-BC0E-94D6-CF17-4463CE9F6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0096E-CC83-2A8E-D9CF-8C05B8F17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92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C8947-E101-64F5-7D10-63413DFD1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4A8F9-6E87-FAFE-817D-F186A800C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9D407-247B-51C9-DAB8-FD44D3DA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77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6CDBD-9901-936E-EF0F-FD0939D0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4783-9416-F67B-E369-E97F8160C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FD937-275D-AA06-23C5-79F0D3848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ECD0D-E010-CEB9-9AF9-B58354CD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386A8-ABAD-7E4D-E7D2-769683C4E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D0819-0B0A-4055-580E-0BCA8189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812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C5C2B-F0BD-CD2F-A55B-1E062210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5ECE97-AAA1-3AB9-9A18-F2A3BC62D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BF204-568F-4094-0DE3-54D9E8482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DE8EC7-B9C7-1BF3-9AD4-2F64B331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83A75-EBFC-7D49-CF8C-0C6EADF95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46E91-62B3-231D-CE2D-781004412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389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023CB-113B-9457-6D90-83C96ADA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33CBF-5F19-B50E-E1F2-700E6D4AD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F3378-110D-DE6B-B94E-D3E46E47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D4103-F899-39CE-707B-2AB38450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61050-76D3-3F20-7223-68C47BD4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11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C8C62-E65F-3E5A-188B-1FBCA852C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03762-6E7D-DD99-B08A-84875AB2C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B4970-9B5B-328F-B345-2295C4A93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2B50D-1C50-04D9-998B-7E8B0FC61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F3385-5DC9-2356-0393-A973D375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82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A3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4E19A8-DA5B-EA47-327B-B7AED9873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23E12-AF4F-300C-84DD-7AAE2C620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D848-1C08-F25B-29C5-AD03AF0B4A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F787C-6793-450F-9E09-BA5D6777DEC7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0297-51CF-CEE9-3670-8A9019E3D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AFCAE-6052-74D0-78A9-CDCC694B2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64D6C-E48D-4A95-88FA-EBCB5CBF42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40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hysionet.org/content/fecgsyndb/1.0.0/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E78B5-FE76-E79E-FDF4-781800251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0933" y="509059"/>
            <a:ext cx="5371264" cy="1325563"/>
          </a:xfrm>
        </p:spPr>
        <p:txBody>
          <a:bodyPr>
            <a:normAutofit fontScale="90000"/>
          </a:bodyPr>
          <a:lstStyle/>
          <a:p>
            <a:r>
              <a:rPr lang="en-IN" sz="3600" b="1" dirty="0" err="1">
                <a:latin typeface="Book Antiqua" panose="02040602050305030304" pitchFamily="18" charset="0"/>
              </a:rPr>
              <a:t>Fetal</a:t>
            </a:r>
            <a:r>
              <a:rPr lang="en-IN" sz="3600" b="1" dirty="0">
                <a:latin typeface="Book Antiqua" panose="02040602050305030304" pitchFamily="18" charset="0"/>
              </a:rPr>
              <a:t> ECG Extraction under Alpha-Stable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0A6D4-A996-D4BD-BBD9-2C53130FAF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7133" y="1899335"/>
            <a:ext cx="5494867" cy="2441575"/>
          </a:xfrm>
        </p:spPr>
        <p:txBody>
          <a:bodyPr/>
          <a:lstStyle/>
          <a:p>
            <a:pPr lvl="0"/>
            <a:r>
              <a:rPr lang="en-IN" sz="2300" b="1" dirty="0">
                <a:latin typeface="Book Antiqua" panose="02040602050305030304" pitchFamily="18" charset="0"/>
              </a:rPr>
              <a:t>Improved Least </a:t>
            </a:r>
            <a:r>
              <a:rPr lang="en-IN" sz="2300" b="1" dirty="0" err="1">
                <a:latin typeface="Book Antiqua" panose="02040602050305030304" pitchFamily="18" charset="0"/>
              </a:rPr>
              <a:t>Lncosh</a:t>
            </a:r>
            <a:r>
              <a:rPr lang="en-IN" sz="2300" b="1" dirty="0">
                <a:latin typeface="Book Antiqua" panose="02040602050305030304" pitchFamily="18" charset="0"/>
              </a:rPr>
              <a:t> Based </a:t>
            </a:r>
            <a:r>
              <a:rPr lang="en-IN" sz="2300" b="1" dirty="0" err="1">
                <a:latin typeface="Book Antiqua" panose="02040602050305030304" pitchFamily="18" charset="0"/>
              </a:rPr>
              <a:t>Fetal</a:t>
            </a:r>
            <a:r>
              <a:rPr lang="en-IN" sz="2300" b="1" dirty="0">
                <a:latin typeface="Book Antiqua" panose="02040602050305030304" pitchFamily="18" charset="0"/>
              </a:rPr>
              <a:t> ECG Extraction in Alpha-Stable Noise (IEEE SPL 2025)</a:t>
            </a:r>
          </a:p>
          <a:p>
            <a:pPr lvl="0"/>
            <a:r>
              <a:rPr lang="en-IN" sz="2300" b="1" dirty="0">
                <a:latin typeface="Book Antiqua" panose="02040602050305030304" pitchFamily="18" charset="0"/>
              </a:rPr>
              <a:t>Extraction of </a:t>
            </a:r>
            <a:r>
              <a:rPr lang="en-IN" sz="2300" b="1" dirty="0" err="1">
                <a:latin typeface="Book Antiqua" panose="02040602050305030304" pitchFamily="18" charset="0"/>
              </a:rPr>
              <a:t>Fetal</a:t>
            </a:r>
            <a:r>
              <a:rPr lang="en-IN" sz="2300" b="1" dirty="0">
                <a:latin typeface="Book Antiqua" panose="02040602050305030304" pitchFamily="18" charset="0"/>
              </a:rPr>
              <a:t> ECG by Logarithmic Hyperbolic Secant Adaptive Algorithm in Alpha-Stable Noise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826B0A-C113-184F-AB1B-CB7B878FC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1451" y="643467"/>
            <a:ext cx="5273497" cy="56387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8DDBD7E-B163-DEBD-8ED6-9906F50CC3A2}"/>
              </a:ext>
            </a:extLst>
          </p:cNvPr>
          <p:cNvSpPr txBox="1"/>
          <p:nvPr/>
        </p:nvSpPr>
        <p:spPr>
          <a:xfrm>
            <a:off x="6810597" y="4732648"/>
            <a:ext cx="47500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Algerian" panose="04020705040A02060702" pitchFamily="82" charset="0"/>
              </a:rPr>
              <a:t>Name   : Ankit  Kumar Kero</a:t>
            </a:r>
            <a:br>
              <a:rPr lang="en-IN" sz="2000" dirty="0">
                <a:latin typeface="Algerian" panose="04020705040A02060702" pitchFamily="82" charset="0"/>
              </a:rPr>
            </a:br>
            <a:r>
              <a:rPr lang="en-IN" sz="2000" dirty="0">
                <a:latin typeface="Algerian" panose="04020705040A02060702" pitchFamily="82" charset="0"/>
              </a:rPr>
              <a:t>Roll no : 2302CM07</a:t>
            </a:r>
            <a:br>
              <a:rPr lang="en-IN" sz="2000" dirty="0">
                <a:latin typeface="Algerian" panose="04020705040A02060702" pitchFamily="82" charset="0"/>
              </a:rPr>
            </a:br>
            <a:r>
              <a:rPr lang="en-IN" sz="2000" dirty="0">
                <a:latin typeface="Algerian" panose="04020705040A02060702" pitchFamily="82" charset="0"/>
              </a:rPr>
              <a:t>Course : EC4196 Summer internship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6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BDDF-79ED-69A6-5DBE-992B20AE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05400" cy="1325563"/>
          </a:xfrm>
        </p:spPr>
        <p:txBody>
          <a:bodyPr/>
          <a:lstStyle/>
          <a:p>
            <a:r>
              <a:rPr lang="en-IN" b="1" u="sng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6FDB2-9457-DE50-BC54-EB238CEAA53F}"/>
              </a:ext>
            </a:extLst>
          </p:cNvPr>
          <p:cNvSpPr txBox="1"/>
          <p:nvPr/>
        </p:nvSpPr>
        <p:spPr>
          <a:xfrm>
            <a:off x="838200" y="2607442"/>
            <a:ext cx="5257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300" dirty="0" err="1"/>
              <a:t>Fetal</a:t>
            </a:r>
            <a:r>
              <a:rPr lang="en-IN" sz="2300" dirty="0"/>
              <a:t> ECG (</a:t>
            </a:r>
            <a:r>
              <a:rPr lang="en-IN" sz="2300" b="1" dirty="0"/>
              <a:t>FECG</a:t>
            </a:r>
            <a:r>
              <a:rPr lang="en-IN" sz="2300" dirty="0"/>
              <a:t>) is hidden inside the abdominal ECG.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300" dirty="0"/>
              <a:t>Maternal ECG has much larger amplitude.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300" b="1" dirty="0"/>
              <a:t>Alpha-stable</a:t>
            </a:r>
            <a:r>
              <a:rPr lang="en-IN" sz="2300" dirty="0"/>
              <a:t> impulsive noise further degrades the signal.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300" b="1" dirty="0"/>
              <a:t>Conventional adaptive filters </a:t>
            </a:r>
            <a:r>
              <a:rPr lang="en-IN" sz="2300" dirty="0"/>
              <a:t>lose performance in impulsive environments.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57A96-9A87-40D1-5E97-446E4CB63763}"/>
              </a:ext>
            </a:extLst>
          </p:cNvPr>
          <p:cNvSpPr txBox="1"/>
          <p:nvPr/>
        </p:nvSpPr>
        <p:spPr>
          <a:xfrm>
            <a:off x="838200" y="1868778"/>
            <a:ext cx="41321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Why </a:t>
            </a:r>
            <a:r>
              <a:rPr lang="en-IN" sz="2400" b="1" dirty="0" err="1"/>
              <a:t>Fetal</a:t>
            </a:r>
            <a:r>
              <a:rPr lang="en-IN" sz="2400" b="1" dirty="0"/>
              <a:t> ECG Extraction?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F29660-52F5-4411-04DE-BB11A10D8FE8}"/>
              </a:ext>
            </a:extLst>
          </p:cNvPr>
          <p:cNvSpPr txBox="1"/>
          <p:nvPr/>
        </p:nvSpPr>
        <p:spPr>
          <a:xfrm>
            <a:off x="6847114" y="1172792"/>
            <a:ext cx="455765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latin typeface="Book Antiqua" panose="02040602050305030304" pitchFamily="18" charset="0"/>
              </a:rPr>
              <a:t>Objective of this Work: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982C7-3708-BF9C-81D5-4578C92100D9}"/>
              </a:ext>
            </a:extLst>
          </p:cNvPr>
          <p:cNvSpPr txBox="1"/>
          <p:nvPr/>
        </p:nvSpPr>
        <p:spPr>
          <a:xfrm>
            <a:off x="6847114" y="2238110"/>
            <a:ext cx="534488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Extract</a:t>
            </a:r>
            <a:r>
              <a:rPr lang="en-IN" sz="2000" dirty="0"/>
              <a:t> clean </a:t>
            </a:r>
            <a:r>
              <a:rPr lang="en-IN" sz="2000" dirty="0" err="1"/>
              <a:t>Fetal</a:t>
            </a:r>
            <a:r>
              <a:rPr lang="en-IN" sz="2000" dirty="0"/>
              <a:t> ECG (FECG) from Abdominal ECG (AECG).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Improve performance under </a:t>
            </a:r>
            <a:r>
              <a:rPr lang="en-IN" sz="2000" b="1" dirty="0"/>
              <a:t>Alpha-Stable Impulsive Noise.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Propose the Improved Logarithmic Hyperbolic Secant </a:t>
            </a:r>
            <a:r>
              <a:rPr lang="en-IN" sz="2000" b="1" dirty="0"/>
              <a:t>Adaptive Filter </a:t>
            </a:r>
            <a:r>
              <a:rPr lang="en-IN" sz="2000" dirty="0"/>
              <a:t>(ILHSAF).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 </a:t>
            </a:r>
            <a:r>
              <a:rPr lang="en-IN" sz="2000" b="1" dirty="0"/>
              <a:t>AHTT</a:t>
            </a:r>
            <a:r>
              <a:rPr lang="en-IN" sz="2000" dirty="0"/>
              <a:t> for automatic parameter optimization.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</a:t>
            </a:r>
            <a:r>
              <a:rPr lang="en-IN" sz="2000" b="1" dirty="0"/>
              <a:t>ILHSAF with NLMS, IPNLMS, </a:t>
            </a:r>
            <a:r>
              <a:rPr lang="en-IN" sz="2000" b="1" dirty="0" err="1"/>
              <a:t>Llncosh</a:t>
            </a:r>
            <a:r>
              <a:rPr lang="en-IN" sz="2000" b="1" dirty="0"/>
              <a:t>, and LHSAF.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422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E5735-6AA7-2EF5-0EE0-D786492F5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133" y="712259"/>
            <a:ext cx="3818467" cy="710142"/>
          </a:xfrm>
        </p:spPr>
        <p:txBody>
          <a:bodyPr>
            <a:normAutofit fontScale="90000"/>
          </a:bodyPr>
          <a:lstStyle/>
          <a:p>
            <a:r>
              <a:rPr lang="en-IN" sz="3600" b="1" u="sng" dirty="0">
                <a:latin typeface="Book Antiqua" panose="02040602050305030304" pitchFamily="18" charset="0"/>
              </a:rPr>
              <a:t>System Model</a:t>
            </a:r>
            <a:br>
              <a:rPr lang="en-IN" b="1" u="sng" dirty="0">
                <a:latin typeface="Book Antiqua" panose="02040602050305030304" pitchFamily="18" charset="0"/>
              </a:rPr>
            </a:br>
            <a:endParaRPr lang="en-IN" dirty="0"/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BF87247E-2F1E-9C19-C74D-FBC4836FF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583" y="-15875"/>
            <a:ext cx="6187017" cy="3444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B31C1B-9B6E-2F93-7DB1-7E5493BDE2D1}"/>
              </a:ext>
            </a:extLst>
          </p:cNvPr>
          <p:cNvSpPr txBox="1"/>
          <p:nvPr/>
        </p:nvSpPr>
        <p:spPr>
          <a:xfrm>
            <a:off x="6242808" y="3412067"/>
            <a:ext cx="5440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Block diagram of FECG extraction using adaptive filters</a:t>
            </a:r>
            <a:r>
              <a:rPr lang="en-IN" dirty="0"/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DCECA7-FD35-7D8D-55D8-AEC8B832EB1E}"/>
                  </a:ext>
                </a:extLst>
              </p:cNvPr>
              <p:cNvSpPr txBox="1"/>
              <p:nvPr/>
            </p:nvSpPr>
            <p:spPr>
              <a:xfrm>
                <a:off x="846668" y="2304942"/>
                <a:ext cx="3326167" cy="32176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Where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i="1"/>
                      <m:t>𝑚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= Maternal ECG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i="1"/>
                      <m:t>𝑠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= </a:t>
                </a:r>
                <a:r>
                  <a:rPr lang="en-IN" dirty="0" err="1"/>
                  <a:t>Fetal</a:t>
                </a:r>
                <a:r>
                  <a:rPr lang="en-IN" dirty="0"/>
                  <a:t> ECG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i="1"/>
                      <m:t>𝑣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= Alpha-stable noise</a:t>
                </a:r>
              </a:p>
              <a:p>
                <a:pPr lvl="0"/>
                <a:endParaRPr lang="en-IN" dirty="0"/>
              </a:p>
              <a:p>
                <a:r>
                  <a:rPr lang="en-IN" dirty="0"/>
                  <a:t>Reference selection</a:t>
                </a:r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limLow>
                        <m:limLowPr>
                          <m:ctrlPr>
                            <a:rPr lang="en-IN"/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IN"/>
                            <m:t>arg</m:t>
                          </m:r>
                          <m:r>
                            <a:rPr lang="en-IN"/>
                            <m:t> </m:t>
                          </m:r>
                          <m:r>
                            <m:rPr>
                              <m:sty m:val="p"/>
                            </m:rPr>
                            <a:rPr lang="en-IN"/>
                            <m:t>max</m:t>
                          </m:r>
                        </m:e>
                        <m:lim>
                          <m:r>
                            <a:rPr lang="en-IN" i="1"/>
                            <m:t>𝑟</m:t>
                          </m:r>
                          <m:r>
                            <a:rPr lang="en-IN"/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sepChr m:val=","/>
                              <m:ctrlPr>
                                <a:rPr lang="en-IN"/>
                              </m:ctrlPr>
                            </m:dPr>
                            <m:e>
                              <m:r>
                                <a:rPr lang="en-IN"/>
                                <m:t>33</m:t>
                              </m:r>
                            </m:e>
                            <m:e>
                              <m:r>
                                <a:rPr lang="en-IN"/>
                                <m:t>34</m:t>
                              </m:r>
                            </m:e>
                          </m:d>
                        </m:lim>
                      </m:limLow>
                      <m:r>
                        <a:rPr lang="en-IN"/>
                        <m:t>∣</m:t>
                      </m:r>
                      <m:r>
                        <a:rPr lang="en-IN" i="1"/>
                        <m:t>𝑐𝑜𝑟𝑟</m:t>
                      </m:r>
                      <m:d>
                        <m:dPr>
                          <m:sepChr m:val=","/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𝑟</m:t>
                          </m:r>
                        </m:e>
                        <m:e>
                          <m:r>
                            <a:rPr lang="en-IN" i="1"/>
                            <m:t>𝑚</m:t>
                          </m:r>
                        </m:e>
                      </m:d>
                      <m:r>
                        <a:rPr lang="en-IN"/>
                        <m:t>∣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3DCECA7-FD35-7D8D-55D8-AEC8B832E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668" y="2304942"/>
                <a:ext cx="3326167" cy="3217612"/>
              </a:xfrm>
              <a:prstGeom prst="rect">
                <a:avLst/>
              </a:prstGeom>
              <a:blipFill>
                <a:blip r:embed="rId3"/>
                <a:stretch>
                  <a:fillRect l="-1648" t="-9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A15561D3-1E59-8E04-FAC5-49E7B1C40219}"/>
              </a:ext>
            </a:extLst>
          </p:cNvPr>
          <p:cNvSpPr txBox="1"/>
          <p:nvPr/>
        </p:nvSpPr>
        <p:spPr>
          <a:xfrm>
            <a:off x="1033022" y="1528017"/>
            <a:ext cx="208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d(n)=m(n)+s(n)+v(n)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76D20B-718E-97E4-44C6-183D5C4D56B6}"/>
              </a:ext>
            </a:extLst>
          </p:cNvPr>
          <p:cNvSpPr/>
          <p:nvPr/>
        </p:nvSpPr>
        <p:spPr>
          <a:xfrm>
            <a:off x="1015909" y="1422401"/>
            <a:ext cx="2099734" cy="7101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C1A896-B5C9-BDF0-0D08-49BC5F276F1D}"/>
              </a:ext>
            </a:extLst>
          </p:cNvPr>
          <p:cNvSpPr/>
          <p:nvPr/>
        </p:nvSpPr>
        <p:spPr>
          <a:xfrm>
            <a:off x="1015909" y="4625865"/>
            <a:ext cx="3149600" cy="6180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B71965-831F-9504-A599-4956309B94E8}"/>
              </a:ext>
            </a:extLst>
          </p:cNvPr>
          <p:cNvSpPr txBox="1"/>
          <p:nvPr/>
        </p:nvSpPr>
        <p:spPr>
          <a:xfrm>
            <a:off x="6112933" y="51477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101E7D-B5E8-C275-75DB-944AA629A114}"/>
                  </a:ext>
                </a:extLst>
              </p:cNvPr>
              <p:cNvSpPr txBox="1"/>
              <p:nvPr/>
            </p:nvSpPr>
            <p:spPr>
              <a:xfrm>
                <a:off x="3495357" y="2456883"/>
                <a:ext cx="2248693" cy="1759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Output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𝑦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𝑤</m:t>
                          </m:r>
                        </m:e>
                        <m:sup>
                          <m:r>
                            <a:rPr lang="en-IN" i="1"/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  <a:p>
                <a:r>
                  <a:rPr lang="en-IN" dirty="0"/>
                  <a:t>Error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𝑒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𝑑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−</m:t>
                      </m:r>
                      <m:r>
                        <a:rPr lang="en-IN" i="1"/>
                        <m:t>𝑦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101E7D-B5E8-C275-75DB-944AA629A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5357" y="2456883"/>
                <a:ext cx="2248693" cy="1759264"/>
              </a:xfrm>
              <a:prstGeom prst="rect">
                <a:avLst/>
              </a:prstGeom>
              <a:blipFill>
                <a:blip r:embed="rId4"/>
                <a:stretch>
                  <a:fillRect l="-2168" t="-17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A6501EB-4DB3-1190-F941-C5DEB3DDD1D8}"/>
              </a:ext>
            </a:extLst>
          </p:cNvPr>
          <p:cNvSpPr txBox="1"/>
          <p:nvPr/>
        </p:nvSpPr>
        <p:spPr>
          <a:xfrm>
            <a:off x="6297664" y="4389103"/>
            <a:ext cx="509928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>
                <a:hlinkClick r:id="rId5"/>
              </a:rPr>
              <a:t>FECGSYN</a:t>
            </a:r>
            <a:r>
              <a:rPr lang="en-IN" b="1" dirty="0"/>
              <a:t> </a:t>
            </a:r>
            <a:r>
              <a:rPr lang="en-IN" dirty="0"/>
              <a:t>simulated </a:t>
            </a:r>
            <a:r>
              <a:rPr lang="en-IN" dirty="0" err="1"/>
              <a:t>fetal</a:t>
            </a:r>
            <a:r>
              <a:rPr lang="en-IN" dirty="0"/>
              <a:t> ECG database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Subjects used: Sub01, Sub03, Sub05, Sub07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Four abdominal channels averaged for evaluation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Maternal reference selected automatically from </a:t>
            </a:r>
          </a:p>
          <a:p>
            <a:pPr lvl="0"/>
            <a:r>
              <a:rPr lang="en-IN" dirty="0"/>
              <a:t>      channels 33 or 34 using maximum correlation.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30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4CAB-665C-7E2C-4378-DDD2DBE7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7" y="559860"/>
            <a:ext cx="5257800" cy="896408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Alpha-Stable Noise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59773-3970-635B-E861-DD85B686689D}"/>
              </a:ext>
            </a:extLst>
          </p:cNvPr>
          <p:cNvSpPr txBox="1"/>
          <p:nvPr/>
        </p:nvSpPr>
        <p:spPr>
          <a:xfrm>
            <a:off x="745067" y="1481802"/>
            <a:ext cx="7976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We used the Symmetric Alpha-Stable (SαS) distribution to generate impulsive noise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F71C47-3BD8-9FD7-8B1C-8A8AA1525A24}"/>
                  </a:ext>
                </a:extLst>
              </p:cNvPr>
              <p:cNvSpPr txBox="1"/>
              <p:nvPr/>
            </p:nvSpPr>
            <p:spPr>
              <a:xfrm>
                <a:off x="745067" y="1990630"/>
                <a:ext cx="307597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Noise Generation Equation</a:t>
                </a:r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𝑣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∼</m:t>
                      </m:r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𝑆</m:t>
                          </m:r>
                        </m:e>
                        <m:sub>
                          <m:r>
                            <a:rPr lang="en-IN" i="1"/>
                            <m:t>𝛼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𝛾</m:t>
                          </m:r>
                        </m:e>
                        <m:e>
                          <m:r>
                            <a:rPr lang="en-IN" i="1"/>
                            <m:t>𝛽</m:t>
                          </m:r>
                        </m:e>
                        <m:e>
                          <m:r>
                            <a:rPr lang="en-IN"/>
                            <m:t>=0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/>
                            <m:t>𝑙𝑜𝑐</m:t>
                          </m:r>
                          <m:r>
                            <a:rPr lang="en-IN"/>
                            <m:t>=0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F71C47-3BD8-9FD7-8B1C-8A8AA1525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7" y="1990630"/>
                <a:ext cx="3075970" cy="1200329"/>
              </a:xfrm>
              <a:prstGeom prst="rect">
                <a:avLst/>
              </a:prstGeom>
              <a:blipFill>
                <a:blip r:embed="rId2"/>
                <a:stretch>
                  <a:fillRect l="-1584" t="-30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E2AA19-B36F-A482-025D-78879C870CEF}"/>
                  </a:ext>
                </a:extLst>
              </p:cNvPr>
              <p:cNvSpPr txBox="1"/>
              <p:nvPr/>
            </p:nvSpPr>
            <p:spPr>
              <a:xfrm>
                <a:off x="757314" y="3045983"/>
                <a:ext cx="3051476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where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𝛼</m:t>
                    </m:r>
                  </m:oMath>
                </a14:m>
                <a:r>
                  <a:rPr lang="en-IN" dirty="0"/>
                  <a:t>= characteristic exponent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𝛾</m:t>
                    </m:r>
                  </m:oMath>
                </a14:m>
                <a:r>
                  <a:rPr lang="en-IN" dirty="0"/>
                  <a:t>= scale parameter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𝛽</m:t>
                    </m:r>
                    <m:r>
                      <a:rPr lang="en-IN"/>
                      <m:t>=0</m:t>
                    </m:r>
                  </m:oMath>
                </a14:m>
                <a:r>
                  <a:rPr lang="en-IN" dirty="0"/>
                  <a:t>= symmetric distribution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E2AA19-B36F-A482-025D-78879C87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14" y="3045983"/>
                <a:ext cx="3051476" cy="1477328"/>
              </a:xfrm>
              <a:prstGeom prst="rect">
                <a:avLst/>
              </a:prstGeom>
              <a:blipFill>
                <a:blip r:embed="rId3"/>
                <a:stretch>
                  <a:fillRect l="-1597" t="-2479" r="-13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55E6847-2AF6-FBAF-6D92-F2022E5DE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343871"/>
              </p:ext>
            </p:extLst>
          </p:nvPr>
        </p:nvGraphicFramePr>
        <p:xfrm>
          <a:off x="6643363" y="2870247"/>
          <a:ext cx="4157136" cy="1828800"/>
        </p:xfrm>
        <a:graphic>
          <a:graphicData uri="http://schemas.openxmlformats.org/drawingml/2006/table">
            <a:tbl>
              <a:tblPr/>
              <a:tblGrid>
                <a:gridCol w="2078568">
                  <a:extLst>
                    <a:ext uri="{9D8B030D-6E8A-4147-A177-3AD203B41FA5}">
                      <a16:colId xmlns:a16="http://schemas.microsoft.com/office/drawing/2014/main" val="757283415"/>
                    </a:ext>
                  </a:extLst>
                </a:gridCol>
                <a:gridCol w="2078568">
                  <a:extLst>
                    <a:ext uri="{9D8B030D-6E8A-4147-A177-3AD203B41FA5}">
                      <a16:colId xmlns:a16="http://schemas.microsoft.com/office/drawing/2014/main" val="3683295850"/>
                    </a:ext>
                  </a:extLst>
                </a:gridCol>
              </a:tblGrid>
              <a:tr h="34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Alpha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Noise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189334"/>
                  </a:ext>
                </a:extLst>
              </a:tr>
              <a:tr h="34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Gaussian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5725"/>
                  </a:ext>
                </a:extLst>
              </a:tr>
              <a:tr h="34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 impulsive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2442353"/>
                  </a:ext>
                </a:extLst>
              </a:tr>
              <a:tr h="34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 impulsive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0599561"/>
                  </a:ext>
                </a:extLst>
              </a:tr>
              <a:tr h="344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Strong impulsive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08559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0F056-C54F-2C4C-2459-28AB9B515200}"/>
                  </a:ext>
                </a:extLst>
              </p:cNvPr>
              <p:cNvSpPr txBox="1"/>
              <p:nvPr/>
            </p:nvSpPr>
            <p:spPr>
              <a:xfrm>
                <a:off x="6425432" y="2062330"/>
                <a:ext cx="6096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Alpha Values Used</a:t>
                </a:r>
              </a:p>
              <a:p>
                <a:pPr>
                  <a:buNone/>
                </a:pPr>
                <a:r>
                  <a:rPr lang="en-IN" dirty="0"/>
                  <a:t>As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dirty="0"/>
                  <a:t>decreases, the probability of large spikes increases.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520F056-C54F-2C4C-2459-28AB9B515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5432" y="2062330"/>
                <a:ext cx="6096000" cy="646331"/>
              </a:xfrm>
              <a:prstGeom prst="rect">
                <a:avLst/>
              </a:prstGeom>
              <a:blipFill>
                <a:blip r:embed="rId4"/>
                <a:stretch>
                  <a:fillRect l="-800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66D4CE-FC08-6BE9-8691-52DCF0DC0621}"/>
                  </a:ext>
                </a:extLst>
              </p:cNvPr>
              <p:cNvSpPr txBox="1"/>
              <p:nvPr/>
            </p:nvSpPr>
            <p:spPr>
              <a:xfrm>
                <a:off x="631816" y="4614923"/>
                <a:ext cx="1680204" cy="11873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Initial gamma: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𝛾</m:t>
                      </m:r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i="1"/>
                            <m:t>𝑅𝑀𝑆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𝑐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/>
                              </m:ctrlPr>
                            </m:sSupPr>
                            <m:e>
                              <m:r>
                                <a:rPr lang="en-IN"/>
                                <m:t>10</m:t>
                              </m:r>
                            </m:e>
                            <m:sup>
                              <m:r>
                                <a:rPr lang="en-IN" i="1"/>
                                <m:t>𝐺𝑆𝑁𝑅</m:t>
                              </m:r>
                              <m:r>
                                <a:rPr lang="en-IN"/>
                                <m:t>/20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166D4CE-FC08-6BE9-8691-52DCF0DC0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16" y="4614923"/>
                <a:ext cx="1680204" cy="1187376"/>
              </a:xfrm>
              <a:prstGeom prst="rect">
                <a:avLst/>
              </a:prstGeom>
              <a:blipFill>
                <a:blip r:embed="rId5"/>
                <a:stretch>
                  <a:fillRect l="-3273" t="-25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F810BB-0072-CA3A-D265-8211E8843751}"/>
                  </a:ext>
                </a:extLst>
              </p:cNvPr>
              <p:cNvSpPr txBox="1"/>
              <p:nvPr/>
            </p:nvSpPr>
            <p:spPr>
              <a:xfrm>
                <a:off x="7821849" y="5051957"/>
                <a:ext cx="4000198" cy="12496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Gamma was then corrected as</a:t>
                </a:r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𝛾</m:t>
                          </m:r>
                        </m:e>
                        <m:sub>
                          <m:r>
                            <a:rPr lang="en-IN" i="1"/>
                            <m:t>𝑛𝑒𝑤</m:t>
                          </m:r>
                        </m:sub>
                      </m:sSub>
                      <m:r>
                        <a:rPr lang="en-IN"/>
                        <m:t>=</m:t>
                      </m:r>
                      <m:r>
                        <a:rPr lang="en-IN" i="1"/>
                        <m:t>𝛾</m:t>
                      </m:r>
                      <m:r>
                        <a:rPr lang="en-IN"/>
                        <m:t>×</m:t>
                      </m:r>
                      <m:sSup>
                        <m:sSupPr>
                          <m:ctrlPr>
                            <a:rPr lang="en-IN"/>
                          </m:ctrlPr>
                        </m:sSupPr>
                        <m:e>
                          <m:r>
                            <a:rPr lang="en-IN"/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𝐺𝑆𝑁</m:t>
                              </m:r>
                              <m:sSub>
                                <m:sSubPr>
                                  <m:ctrlPr>
                                    <a:rPr lang="en-IN" i="1"/>
                                  </m:ctrlPr>
                                </m:sSubPr>
                                <m:e>
                                  <m:r>
                                    <a:rPr lang="en-IN" i="1"/>
                                    <m:t>𝑅</m:t>
                                  </m:r>
                                </m:e>
                                <m:sub>
                                  <m:r>
                                    <a:rPr lang="en-IN" i="1"/>
                                    <m:t>𝑎𝑐𝑡𝑢𝑎𝑙</m:t>
                                  </m:r>
                                </m:sub>
                              </m:sSub>
                              <m:r>
                                <a:rPr lang="en-IN"/>
                                <m:t>−</m:t>
                              </m:r>
                              <m:r>
                                <a:rPr lang="en-IN" i="1"/>
                                <m:t>𝐺𝑆𝑁</m:t>
                              </m:r>
                              <m:sSub>
                                <m:sSubPr>
                                  <m:ctrlPr>
                                    <a:rPr lang="en-IN" i="1"/>
                                  </m:ctrlPr>
                                </m:sSubPr>
                                <m:e>
                                  <m:r>
                                    <a:rPr lang="en-IN" i="1"/>
                                    <m:t>𝑅</m:t>
                                  </m:r>
                                </m:e>
                                <m:sub>
                                  <m:r>
                                    <a:rPr lang="en-IN" i="1"/>
                                    <m:t>𝑡𝑎𝑟𝑔𝑒𝑡</m:t>
                                  </m:r>
                                </m:sub>
                              </m:sSub>
                            </m:e>
                          </m:d>
                          <m:r>
                            <a:rPr lang="en-IN"/>
                            <m:t>/20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F810BB-0072-CA3A-D265-8211E8843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1849" y="5051957"/>
                <a:ext cx="4000198" cy="1249637"/>
              </a:xfrm>
              <a:prstGeom prst="rect">
                <a:avLst/>
              </a:prstGeom>
              <a:blipFill>
                <a:blip r:embed="rId6"/>
                <a:stretch>
                  <a:fillRect l="-1220" t="-29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789CB-B4B3-4ACA-D2E2-E414022DF5C4}"/>
                  </a:ext>
                </a:extLst>
              </p:cNvPr>
              <p:cNvSpPr txBox="1"/>
              <p:nvPr/>
            </p:nvSpPr>
            <p:spPr>
              <a:xfrm>
                <a:off x="2499597" y="5159422"/>
                <a:ext cx="5134675" cy="1268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After generating noise, the actual GSNR was verified.</a:t>
                </a:r>
              </a:p>
              <a:p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𝐺𝑆𝑁</m:t>
                      </m:r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𝑅</m:t>
                          </m:r>
                        </m:e>
                        <m:sub>
                          <m:r>
                            <a:rPr lang="en-IN" i="1"/>
                            <m:t>𝑎𝑐𝑡𝑢𝑎𝑙</m:t>
                          </m:r>
                        </m:sub>
                      </m:sSub>
                      <m:r>
                        <a:rPr lang="en-IN"/>
                        <m:t>=20</m:t>
                      </m:r>
                      <m:sSub>
                        <m:sSubPr>
                          <m:ctrlPr>
                            <a:rPr lang="en-IN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e>
                        <m:sub>
                          <m:r>
                            <a:rPr lang="en-IN"/>
                            <m:t>10</m:t>
                          </m:r>
                        </m:sub>
                      </m:sSub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f>
                            <m:fPr>
                              <m:ctrlPr>
                                <a:rPr lang="en-IN"/>
                              </m:ctrlPr>
                            </m:fPr>
                            <m:num>
                              <m:r>
                                <a:rPr lang="en-IN"/>
                                <m:t>∥</m:t>
                              </m:r>
                              <m:r>
                                <a:rPr lang="en-IN" i="1"/>
                                <m:t>𝑐</m:t>
                              </m:r>
                              <m:r>
                                <a:rPr lang="en-IN"/>
                                <m:t>∥</m:t>
                              </m:r>
                            </m:num>
                            <m:den>
                              <m:r>
                                <a:rPr lang="en-IN"/>
                                <m:t>∥</m:t>
                              </m:r>
                              <m:r>
                                <a:rPr lang="en-IN" i="1"/>
                                <m:t>𝑣</m:t>
                              </m:r>
                              <m:r>
                                <a:rPr lang="en-IN"/>
                                <m:t>∥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2789CB-B4B3-4ACA-D2E2-E414022DF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597" y="5159422"/>
                <a:ext cx="5134675" cy="1268681"/>
              </a:xfrm>
              <a:prstGeom prst="rect">
                <a:avLst/>
              </a:prstGeom>
              <a:blipFill>
                <a:blip r:embed="rId7"/>
                <a:stretch>
                  <a:fillRect l="-950" t="-2404" r="-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2D0A3CD-943C-AB19-3777-CA374FAE2A4C}"/>
              </a:ext>
            </a:extLst>
          </p:cNvPr>
          <p:cNvSpPr/>
          <p:nvPr/>
        </p:nvSpPr>
        <p:spPr>
          <a:xfrm>
            <a:off x="855133" y="2549547"/>
            <a:ext cx="2913775" cy="3937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9F38AD-06F9-8A31-AFAE-7B1E24F81BD1}"/>
              </a:ext>
            </a:extLst>
          </p:cNvPr>
          <p:cNvSpPr/>
          <p:nvPr/>
        </p:nvSpPr>
        <p:spPr>
          <a:xfrm>
            <a:off x="7861540" y="5569727"/>
            <a:ext cx="382165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3DB102-883F-FF2A-AD71-D9791A75E6E6}"/>
              </a:ext>
            </a:extLst>
          </p:cNvPr>
          <p:cNvSpPr/>
          <p:nvPr/>
        </p:nvSpPr>
        <p:spPr>
          <a:xfrm>
            <a:off x="745067" y="4936067"/>
            <a:ext cx="1566953" cy="6425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D3932B-BDD3-D0D0-2637-EFCC919D5561}"/>
              </a:ext>
            </a:extLst>
          </p:cNvPr>
          <p:cNvSpPr txBox="1"/>
          <p:nvPr/>
        </p:nvSpPr>
        <p:spPr>
          <a:xfrm>
            <a:off x="2921000" y="4395224"/>
            <a:ext cx="23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Target:     GSNR = 15 dB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B67706-17DC-5BF8-E561-1DF41E32A7AF}"/>
              </a:ext>
            </a:extLst>
          </p:cNvPr>
          <p:cNvSpPr/>
          <p:nvPr/>
        </p:nvSpPr>
        <p:spPr>
          <a:xfrm>
            <a:off x="2878667" y="4385733"/>
            <a:ext cx="2455333" cy="3788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C8F0BB-058E-C671-B5DF-F9706B1DD3BC}"/>
              </a:ext>
            </a:extLst>
          </p:cNvPr>
          <p:cNvSpPr/>
          <p:nvPr/>
        </p:nvSpPr>
        <p:spPr>
          <a:xfrm>
            <a:off x="3496734" y="5676775"/>
            <a:ext cx="3437467" cy="9059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03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7E2E2-BEE3-93B8-564C-1E8D88887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033" y="199496"/>
            <a:ext cx="5833534" cy="1074209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Adaptive Filtering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31C72-C0C0-4059-AD9B-D525B8EDD8F3}"/>
              </a:ext>
            </a:extLst>
          </p:cNvPr>
          <p:cNvSpPr txBox="1"/>
          <p:nvPr/>
        </p:nvSpPr>
        <p:spPr>
          <a:xfrm>
            <a:off x="1422400" y="1752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02783-CD09-6261-AFE9-6DC10FD31551}"/>
              </a:ext>
            </a:extLst>
          </p:cNvPr>
          <p:cNvSpPr txBox="1"/>
          <p:nvPr/>
        </p:nvSpPr>
        <p:spPr>
          <a:xfrm>
            <a:off x="3352800" y="335280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A72E61-3B57-A510-1232-2935446B123F}"/>
                  </a:ext>
                </a:extLst>
              </p:cNvPr>
              <p:cNvSpPr txBox="1"/>
              <p:nvPr/>
            </p:nvSpPr>
            <p:spPr>
              <a:xfrm>
                <a:off x="611588" y="1334512"/>
                <a:ext cx="5468228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Step 1 – Load FECGSYN Database</a:t>
                </a:r>
              </a:p>
              <a:p>
                <a:pPr lvl="0"/>
                <a:r>
                  <a:rPr lang="en-IN" dirty="0"/>
                  <a:t>Loaded FECG and MECG signals for Sub01, Sub03, Sub05</a:t>
                </a:r>
              </a:p>
              <a:p>
                <a:pPr lvl="0"/>
                <a:r>
                  <a:rPr lang="en-IN" dirty="0"/>
                  <a:t> and Sub07.Used four abdominal channels .</a:t>
                </a:r>
              </a:p>
              <a:p>
                <a:pPr lvl="0"/>
                <a:endParaRPr lang="en-IN" dirty="0"/>
              </a:p>
              <a:p>
                <a:r>
                  <a:rPr lang="en-IN" b="1" dirty="0"/>
                  <a:t>Step 2 – Select Maternal Reference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IN" dirty="0"/>
                  <a:t>Choose the highest-correlated thoracic channel .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func>
                        <m:funcPr>
                          <m:ctrlPr>
                            <a:rPr lang="en-IN" i="1"/>
                          </m:ctrlPr>
                        </m:funcPr>
                        <m:fName>
                          <m:func>
                            <m:funcPr>
                              <m:ctrlPr>
                                <a:rPr lang="en-IN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arg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n-IN"/>
                                <m:t>max</m:t>
                              </m:r>
                            </m:e>
                          </m:func>
                        </m:fName>
                        <m:e>
                          <m:r>
                            <a:rPr lang="en-IN"/>
                            <m:t>∣</m:t>
                          </m:r>
                        </m:e>
                      </m:func>
                      <m:r>
                        <a:rPr lang="en-IN" i="1"/>
                        <m:t>𝑐𝑜𝑟𝑟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)∣</m:t>
                      </m:r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A72E61-3B57-A510-1232-2935446B12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88" y="1334512"/>
                <a:ext cx="5468228" cy="2585323"/>
              </a:xfrm>
              <a:prstGeom prst="rect">
                <a:avLst/>
              </a:prstGeom>
              <a:blipFill>
                <a:blip r:embed="rId2"/>
                <a:stretch>
                  <a:fillRect l="-892" t="-1415" r="-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6D8200-E33E-6AA0-646D-8F66BC11E87C}"/>
                  </a:ext>
                </a:extLst>
              </p:cNvPr>
              <p:cNvSpPr txBox="1"/>
              <p:nvPr/>
            </p:nvSpPr>
            <p:spPr>
              <a:xfrm>
                <a:off x="611095" y="4152541"/>
                <a:ext cx="3855799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Step 3 – Generate Alpha-Stable Noise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𝛼</m:t>
                      </m:r>
                      <m:r>
                        <a:rPr lang="en-IN"/>
                        <m:t>=2.0,1.8,1.6,1.4</m:t>
                      </m:r>
                    </m:oMath>
                  </m:oMathPara>
                </a14:m>
                <a:endParaRPr lang="en-IN" dirty="0"/>
              </a:p>
              <a:p>
                <a:pPr lvl="0"/>
                <a:r>
                  <a:rPr lang="en-IN" dirty="0"/>
                  <a:t>                  GSNR = 15 dB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B6D8200-E33E-6AA0-646D-8F66BC11E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095" y="4152541"/>
                <a:ext cx="3855799" cy="1200329"/>
              </a:xfrm>
              <a:prstGeom prst="rect">
                <a:avLst/>
              </a:prstGeom>
              <a:blipFill>
                <a:blip r:embed="rId3"/>
                <a:stretch>
                  <a:fillRect l="-1264" t="-2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AD3C862-2927-8DBF-3112-82C7250D081C}"/>
              </a:ext>
            </a:extLst>
          </p:cNvPr>
          <p:cNvSpPr txBox="1"/>
          <p:nvPr/>
        </p:nvSpPr>
        <p:spPr>
          <a:xfrm>
            <a:off x="6360566" y="2298290"/>
            <a:ext cx="309706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b="1" dirty="0"/>
          </a:p>
          <a:p>
            <a:r>
              <a:rPr lang="en-IN" b="1" dirty="0"/>
              <a:t>Step 5 – Apply Adaptive Filters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NLMS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IPNLMS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ILL     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LHSAF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ILHSAF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3B90B1-063F-0D08-C195-CE13D025EC60}"/>
                  </a:ext>
                </a:extLst>
              </p:cNvPr>
              <p:cNvSpPr txBox="1"/>
              <p:nvPr/>
            </p:nvSpPr>
            <p:spPr>
              <a:xfrm>
                <a:off x="6360566" y="5212050"/>
                <a:ext cx="451784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Step 6 – Obtain </a:t>
                </a:r>
                <a:r>
                  <a:rPr lang="en-IN" b="1" dirty="0" err="1"/>
                  <a:t>Fetal</a:t>
                </a:r>
                <a:r>
                  <a:rPr lang="en-IN" b="1" dirty="0"/>
                  <a:t> ECG</a:t>
                </a: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IN" i="1"/>
                        <m:t>𝑒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𝑑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−</m:t>
                      </m:r>
                      <m:r>
                        <a:rPr lang="en-IN" i="1"/>
                        <m:t>𝑦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IN" i="1"/>
                      <m:t>𝑦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: Estimated MECG | </a:t>
                </a:r>
                <a14:m>
                  <m:oMath xmlns:m="http://schemas.openxmlformats.org/officeDocument/2006/math">
                    <m:r>
                      <a:rPr lang="en-IN" i="1"/>
                      <m:t>𝑒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: Extracted FECG</a:t>
                </a:r>
              </a:p>
              <a:p>
                <a:pPr lvl="0"/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3B90B1-063F-0D08-C195-CE13D025E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566" y="5212050"/>
                <a:ext cx="4517840" cy="1754326"/>
              </a:xfrm>
              <a:prstGeom prst="rect">
                <a:avLst/>
              </a:prstGeom>
              <a:blipFill>
                <a:blip r:embed="rId4"/>
                <a:stretch>
                  <a:fillRect l="-1078" t="-2083" r="-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EB923DF9-DD76-A50C-84FA-EA1A4FC9DCC3}"/>
              </a:ext>
            </a:extLst>
          </p:cNvPr>
          <p:cNvSpPr/>
          <p:nvPr/>
        </p:nvSpPr>
        <p:spPr>
          <a:xfrm>
            <a:off x="1607131" y="3187585"/>
            <a:ext cx="3379736" cy="541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89675F-B7CC-66F1-5CAE-243C74C324C1}"/>
              </a:ext>
            </a:extLst>
          </p:cNvPr>
          <p:cNvSpPr/>
          <p:nvPr/>
        </p:nvSpPr>
        <p:spPr>
          <a:xfrm>
            <a:off x="7741277" y="2083180"/>
            <a:ext cx="2912533" cy="4788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E2DBE8-9E56-5E7F-11D2-855939D2389B}"/>
              </a:ext>
            </a:extLst>
          </p:cNvPr>
          <p:cNvSpPr/>
          <p:nvPr/>
        </p:nvSpPr>
        <p:spPr>
          <a:xfrm>
            <a:off x="7539986" y="5623094"/>
            <a:ext cx="2159000" cy="406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37763B-F151-88AE-5928-009F96D57E57}"/>
                  </a:ext>
                </a:extLst>
              </p:cNvPr>
              <p:cNvSpPr txBox="1"/>
              <p:nvPr/>
            </p:nvSpPr>
            <p:spPr>
              <a:xfrm>
                <a:off x="6360566" y="1334512"/>
                <a:ext cx="5658472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Step 4 – Create Noisy Abdominal ECG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Combined maternal ECG, </a:t>
                </a:r>
                <a:r>
                  <a:rPr lang="en-IN" dirty="0" err="1"/>
                  <a:t>fetal</a:t>
                </a:r>
                <a:r>
                  <a:rPr lang="en-IN" dirty="0"/>
                  <a:t> ECG and alpha-stable noise.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37763B-F151-88AE-5928-009F96D57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0566" y="1334512"/>
                <a:ext cx="5658472" cy="1200329"/>
              </a:xfrm>
              <a:prstGeom prst="rect">
                <a:avLst/>
              </a:prstGeom>
              <a:blipFill>
                <a:blip r:embed="rId5"/>
                <a:stretch>
                  <a:fillRect l="-861" t="-3046" r="-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D03CE2AF-465B-1560-C464-5C554AA77554}"/>
              </a:ext>
            </a:extLst>
          </p:cNvPr>
          <p:cNvSpPr txBox="1"/>
          <p:nvPr/>
        </p:nvSpPr>
        <p:spPr>
          <a:xfrm>
            <a:off x="8802616" y="4429540"/>
            <a:ext cx="30473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7 - Evaluate Performance</a:t>
            </a:r>
          </a:p>
          <a:p>
            <a:pPr lvl="0"/>
            <a:r>
              <a:rPr lang="en-IN" dirty="0"/>
              <a:t>RMSE, PRD, SNR, AMSE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43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2CE85-AD9F-E2DA-57EE-B60FAC7C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7" y="365125"/>
            <a:ext cx="7171267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Normalized LMS (NLMS) Algorithm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09BA4CF-A799-49DD-C55E-1EF71618F28C}"/>
              </a:ext>
            </a:extLst>
          </p:cNvPr>
          <p:cNvSpPr txBox="1"/>
          <p:nvPr/>
        </p:nvSpPr>
        <p:spPr>
          <a:xfrm>
            <a:off x="1088667" y="1864050"/>
            <a:ext cx="499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Uses input-power normalization for stable updates.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BF6B73-8618-0A02-15F4-88CD0D171112}"/>
                  </a:ext>
                </a:extLst>
              </p:cNvPr>
              <p:cNvSpPr txBox="1"/>
              <p:nvPr/>
            </p:nvSpPr>
            <p:spPr>
              <a:xfrm>
                <a:off x="813528" y="2436582"/>
                <a:ext cx="7289072" cy="28758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Objective: Minimize Mean Square Error (MSE).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Cost Function:        </a:t>
                </a:r>
                <a14:m>
                  <m:oMath xmlns:m="http://schemas.openxmlformats.org/officeDocument/2006/math">
                    <m:r>
                      <a:rPr lang="en-IN" i="1"/>
                      <m:t>𝐽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𝑒</m:t>
                        </m:r>
                      </m:e>
                    </m:d>
                    <m:r>
                      <a:rPr lang="en-IN"/>
                      <m:t>=</m:t>
                    </m:r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1</m:t>
                        </m:r>
                      </m:num>
                      <m:den>
                        <m:r>
                          <a:rPr lang="en-IN"/>
                          <m:t>2</m:t>
                        </m:r>
                      </m:den>
                    </m:f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𝑒</m:t>
                        </m:r>
                      </m:e>
                      <m:sup>
                        <m:r>
                          <a:rPr lang="en-IN"/>
                          <m:t>2</m:t>
                        </m:r>
                      </m:sup>
                    </m:sSup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endParaRPr lang="en-IN" dirty="0"/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Gradient Update: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  <m:r>
                          <a:rPr lang="en-IN"/>
                          <m:t>+1</m:t>
                        </m:r>
                      </m:e>
                    </m:d>
                    <m:r>
                      <a:rPr lang="en-IN"/>
                      <m:t>=</m:t>
                    </m:r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/>
                      <m:t>+2</m:t>
                    </m:r>
                    <m:r>
                      <a:rPr lang="en-IN" i="1"/>
                      <m:t>𝜇</m:t>
                    </m:r>
                    <m:r>
                      <a:rPr lang="en-IN" i="1"/>
                      <m:t>𝑒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 i="1"/>
                      <m:t>𝑥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   (LMS)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IN" dirty="0"/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Normalize by input power:     </a:t>
                </a:r>
                <a14:m>
                  <m:oMath xmlns:m="http://schemas.openxmlformats.org/officeDocument/2006/math"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  <m:r>
                          <a:rPr lang="en-IN"/>
                          <m:t>+1</m:t>
                        </m:r>
                      </m:e>
                    </m:d>
                    <m:r>
                      <a:rPr lang="en-IN"/>
                      <m:t>=</m:t>
                    </m:r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/>
                      <m:t>+</m:t>
                    </m:r>
                    <m:f>
                      <m:fPr>
                        <m:ctrlPr>
                          <a:rPr lang="en-IN" i="1"/>
                        </m:ctrlPr>
                      </m:fPr>
                      <m:num>
                        <m:r>
                          <a:rPr lang="en-IN" i="1"/>
                          <m:t>𝜇</m:t>
                        </m:r>
                        <m:r>
                          <a:rPr lang="en-IN" i="1"/>
                          <m:t>𝑒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  <m:r>
                          <a:rPr lang="en-IN" i="1"/>
                          <m:t>𝑥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en-IN" i="1"/>
                            </m:ctrlPr>
                          </m:sSupPr>
                          <m:e>
                            <m:r>
                              <a:rPr lang="en-IN" i="1"/>
                              <m:t>𝑥</m:t>
                            </m:r>
                          </m:e>
                          <m:sup>
                            <m:r>
                              <a:rPr lang="en-IN" i="1"/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  <m:r>
                          <a:rPr lang="en-IN" i="1"/>
                          <m:t>𝑥</m:t>
                        </m:r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𝑛</m:t>
                            </m:r>
                          </m:e>
                        </m:d>
                        <m:r>
                          <a:rPr lang="en-IN"/>
                          <m:t>+</m:t>
                        </m:r>
                        <m:r>
                          <a:rPr lang="en-IN" i="1"/>
                          <m:t>𝛿</m:t>
                        </m:r>
                      </m:den>
                    </m:f>
                  </m:oMath>
                </a14:m>
                <a:r>
                  <a:rPr lang="en-IN" dirty="0"/>
                  <a:t>      (NLMS)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BFBF6B73-8618-0A02-15F4-88CD0D171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28" y="2436582"/>
                <a:ext cx="7289072" cy="2875852"/>
              </a:xfrm>
              <a:prstGeom prst="rect">
                <a:avLst/>
              </a:prstGeom>
              <a:blipFill>
                <a:blip r:embed="rId2"/>
                <a:stretch>
                  <a:fillRect l="-5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Rectangle 77">
            <a:extLst>
              <a:ext uri="{FF2B5EF4-FFF2-40B4-BE49-F238E27FC236}">
                <a16:creationId xmlns:a16="http://schemas.microsoft.com/office/drawing/2014/main" id="{9DB0E2CC-49C9-C38D-7630-FC895FA21ADD}"/>
              </a:ext>
            </a:extLst>
          </p:cNvPr>
          <p:cNvSpPr/>
          <p:nvPr/>
        </p:nvSpPr>
        <p:spPr>
          <a:xfrm>
            <a:off x="3132667" y="3589867"/>
            <a:ext cx="3318933" cy="304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48D2C4-D3FC-F35E-B4A0-0ED27C2AE21D}"/>
              </a:ext>
            </a:extLst>
          </p:cNvPr>
          <p:cNvSpPr/>
          <p:nvPr/>
        </p:nvSpPr>
        <p:spPr>
          <a:xfrm>
            <a:off x="3860799" y="4470400"/>
            <a:ext cx="3183467" cy="577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1A1435-AA66-89CA-15A0-244EB7CF8188}"/>
              </a:ext>
            </a:extLst>
          </p:cNvPr>
          <p:cNvSpPr/>
          <p:nvPr/>
        </p:nvSpPr>
        <p:spPr>
          <a:xfrm>
            <a:off x="2802467" y="3014133"/>
            <a:ext cx="1566333" cy="4148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23964C1B-D61A-58FD-08B9-345A0CA2B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456103"/>
              </p:ext>
            </p:extLst>
          </p:nvPr>
        </p:nvGraphicFramePr>
        <p:xfrm>
          <a:off x="7845647" y="2578987"/>
          <a:ext cx="3979334" cy="1097280"/>
        </p:xfrm>
        <a:graphic>
          <a:graphicData uri="http://schemas.openxmlformats.org/drawingml/2006/table">
            <a:tbl>
              <a:tblPr/>
              <a:tblGrid>
                <a:gridCol w="1989667">
                  <a:extLst>
                    <a:ext uri="{9D8B030D-6E8A-4147-A177-3AD203B41FA5}">
                      <a16:colId xmlns:a16="http://schemas.microsoft.com/office/drawing/2014/main" val="3447847100"/>
                    </a:ext>
                  </a:extLst>
                </a:gridCol>
                <a:gridCol w="1989667">
                  <a:extLst>
                    <a:ext uri="{9D8B030D-6E8A-4147-A177-3AD203B41FA5}">
                      <a16:colId xmlns:a16="http://schemas.microsoft.com/office/drawing/2014/main" val="7484936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521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Filter Length 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937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Step Size (μ)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654416"/>
                  </a:ext>
                </a:extLst>
              </a:tr>
            </a:tbl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1CBC9B1F-5858-5421-CD78-E1DA63FD5E50}"/>
              </a:ext>
            </a:extLst>
          </p:cNvPr>
          <p:cNvSpPr txBox="1"/>
          <p:nvPr/>
        </p:nvSpPr>
        <p:spPr>
          <a:xfrm>
            <a:off x="7760981" y="2097698"/>
            <a:ext cx="260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Simulation Parameters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018882-CE21-57A2-D030-AE52DB173826}"/>
                  </a:ext>
                </a:extLst>
              </p:cNvPr>
              <p:cNvSpPr txBox="1"/>
              <p:nvPr/>
            </p:nvSpPr>
            <p:spPr>
              <a:xfrm>
                <a:off x="3719234" y="5265390"/>
                <a:ext cx="404174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lang="en-IN" i="1"/>
                        </m:ctrlPr>
                      </m:sSupPr>
                      <m:e>
                        <m:r>
                          <a:rPr lang="en-IN" i="1"/>
                          <m:t>𝑥</m:t>
                        </m:r>
                      </m:e>
                      <m:sup>
                        <m:r>
                          <a:rPr lang="en-IN" i="1"/>
                          <m:t>𝑇</m:t>
                        </m:r>
                      </m:sup>
                    </m:sSup>
                    <m:r>
                      <a:rPr lang="en-IN" i="1"/>
                      <m:t>𝑥</m:t>
                    </m:r>
                  </m:oMath>
                </a14:m>
                <a:r>
                  <a:rPr lang="en-IN" dirty="0"/>
                  <a:t>→ Input signal power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𝛿</m:t>
                    </m:r>
                  </m:oMath>
                </a14:m>
                <a:r>
                  <a:rPr lang="en-IN" dirty="0"/>
                  <a:t>→ Small constant for numerical stability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en-IN" i="1"/>
                      <m:t>𝜇</m:t>
                    </m:r>
                  </m:oMath>
                </a14:m>
                <a:r>
                  <a:rPr lang="en-IN" dirty="0"/>
                  <a:t>→ Step size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49018882-CE21-57A2-D030-AE52DB173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234" y="5265390"/>
                <a:ext cx="4041747" cy="1200329"/>
              </a:xfrm>
              <a:prstGeom prst="rect">
                <a:avLst/>
              </a:prstGeom>
              <a:blipFill>
                <a:blip r:embed="rId3"/>
                <a:stretch>
                  <a:fillRect t="-2538" r="-9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47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C47E3-3371-FFC8-E2ED-1CA55DE0D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267" y="33125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Improved Proportionate NLMS (IPNLMS)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A5F8E2-3D47-A515-A7CB-332D2B41385E}"/>
                  </a:ext>
                </a:extLst>
              </p:cNvPr>
              <p:cNvSpPr txBox="1"/>
              <p:nvPr/>
            </p:nvSpPr>
            <p:spPr>
              <a:xfrm>
                <a:off x="821266" y="1656821"/>
                <a:ext cx="7282891" cy="16158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Start with NLMS update.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Introduce a gain matrix </a:t>
                </a:r>
                <a14:m>
                  <m:oMath xmlns:m="http://schemas.openxmlformats.org/officeDocument/2006/math">
                    <m:r>
                      <a:rPr lang="en-IN" i="1"/>
                      <m:t>𝐺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to give each coefficient a different step size.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Replace </a:t>
                </a:r>
                <a14:m>
                  <m:oMath xmlns:m="http://schemas.openxmlformats.org/officeDocument/2006/math">
                    <m:r>
                      <a:rPr lang="en-IN" i="1"/>
                      <m:t>𝑥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with </a:t>
                </a:r>
                <a14:m>
                  <m:oMath xmlns:m="http://schemas.openxmlformats.org/officeDocument/2006/math">
                    <m:r>
                      <a:rPr lang="en-IN" i="1"/>
                      <m:t>𝐺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 i="1"/>
                      <m:t>𝑥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A5F8E2-3D47-A515-A7CB-332D2B413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66" y="1656821"/>
                <a:ext cx="7282891" cy="1615827"/>
              </a:xfrm>
              <a:prstGeom prst="rect">
                <a:avLst/>
              </a:prstGeom>
              <a:blipFill>
                <a:blip r:embed="rId2"/>
                <a:stretch>
                  <a:fillRect l="-5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EA0C21-ADE1-8C2A-58E5-7B2FA57C56B2}"/>
                  </a:ext>
                </a:extLst>
              </p:cNvPr>
              <p:cNvSpPr txBox="1"/>
              <p:nvPr/>
            </p:nvSpPr>
            <p:spPr>
              <a:xfrm>
                <a:off x="821266" y="3272648"/>
                <a:ext cx="3749744" cy="9287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/>
                  <a:t>Gain Matrix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mtClean="0">
                          <a:latin typeface="Book Antiqua" panose="02040602050305030304" pitchFamily="18" charset="0"/>
                        </a:rPr>
                        <m:t>G(n)</m:t>
                      </m:r>
                      <m:r>
                        <m:rPr>
                          <m:nor/>
                        </m:rPr>
                        <a:rPr lang="en-US" i="0" smtClean="0">
                          <a:latin typeface="Book Antiqua" panose="0204060205030503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mtClean="0">
                          <a:latin typeface="Book Antiqua" panose="0204060205030503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0" smtClean="0">
                          <a:latin typeface="Book Antiqua" panose="0204060205030503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mtClean="0">
                          <a:latin typeface="Book Antiqua" panose="02040602050305030304" pitchFamily="18" charset="0"/>
                        </a:rPr>
                        <m:t>diag[g1​(n),g2​(n),…,gM​(n)]</m:t>
                      </m:r>
                    </m:oMath>
                  </m:oMathPara>
                </a14:m>
                <a:endParaRPr lang="en-IN" dirty="0">
                  <a:latin typeface="Book Antiqua" panose="0204060205030503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4EA0C21-ADE1-8C2A-58E5-7B2FA57C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266" y="3272648"/>
                <a:ext cx="3749744" cy="928716"/>
              </a:xfrm>
              <a:prstGeom prst="rect">
                <a:avLst/>
              </a:prstGeom>
              <a:blipFill>
                <a:blip r:embed="rId3"/>
                <a:stretch>
                  <a:fillRect l="-14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4D124A3D-C0FA-E37C-E410-FED67EAEA792}"/>
              </a:ext>
            </a:extLst>
          </p:cNvPr>
          <p:cNvSpPr/>
          <p:nvPr/>
        </p:nvSpPr>
        <p:spPr>
          <a:xfrm>
            <a:off x="931333" y="3810000"/>
            <a:ext cx="3639677" cy="3913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BF1F6D-0822-908A-5FFC-D8605E9C3939}"/>
                  </a:ext>
                </a:extLst>
              </p:cNvPr>
              <p:cNvSpPr txBox="1"/>
              <p:nvPr/>
            </p:nvSpPr>
            <p:spPr>
              <a:xfrm>
                <a:off x="1085023" y="4302679"/>
                <a:ext cx="3715569" cy="1230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where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𝑔</m:t>
                          </m:r>
                        </m:e>
                        <m:sub>
                          <m:r>
                            <a:rPr lang="en-IN" i="1"/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en-IN"/>
                          </m:ctrlPr>
                        </m:fPr>
                        <m:num>
                          <m:r>
                            <a:rPr lang="en-IN"/>
                            <m:t>1−</m:t>
                          </m:r>
                          <m:r>
                            <a:rPr lang="en-IN" i="1"/>
                            <m:t>𝛼</m:t>
                          </m:r>
                        </m:num>
                        <m:den>
                          <m:r>
                            <a:rPr lang="en-IN"/>
                            <m:t>2</m:t>
                          </m:r>
                          <m:r>
                            <a:rPr lang="en-IN" i="1"/>
                            <m:t>𝑀</m:t>
                          </m:r>
                        </m:den>
                      </m:f>
                      <m:r>
                        <a:rPr lang="en-IN"/>
                        <m:t>+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d>
                            <m:dPr>
                              <m:ctrlPr>
                                <a:rPr lang="en-IN"/>
                              </m:ctrlPr>
                            </m:dPr>
                            <m:e>
                              <m:r>
                                <a:rPr lang="en-IN"/>
                                <m:t>1+</m:t>
                              </m:r>
                              <m:r>
                                <a:rPr lang="en-IN" i="1"/>
                                <m:t>𝛼</m:t>
                              </m:r>
                            </m:e>
                          </m:d>
                          <m:r>
                            <a:rPr lang="en-IN"/>
                            <m:t>∣</m:t>
                          </m:r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𝑤</m:t>
                              </m:r>
                            </m:e>
                            <m:sub>
                              <m:r>
                                <a:rPr lang="en-IN" i="1"/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/>
                            <m:t>∣</m:t>
                          </m:r>
                        </m:num>
                        <m:den>
                          <m:r>
                            <a:rPr lang="en-IN"/>
                            <m:t>2</m:t>
                          </m:r>
                          <m:r>
                            <a:rPr lang="en-IN" i="1"/>
                            <m:t>𝑀</m:t>
                          </m:r>
                          <m:r>
                            <a:rPr lang="en-IN"/>
                            <m:t>∥</m:t>
                          </m:r>
                          <m:r>
                            <a:rPr lang="en-IN" i="1"/>
                            <m:t>𝑤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/>
                            <m:t>∥+</m:t>
                          </m:r>
                          <m:sSub>
                            <m:sSubPr>
                              <m:ctrlPr>
                                <a:rPr lang="en-IN" i="1"/>
                              </m:ctrlPr>
                            </m:sSubPr>
                            <m:e>
                              <m:r>
                                <a:rPr lang="en-IN" i="1"/>
                                <m:t>𝜆</m:t>
                              </m:r>
                            </m:e>
                            <m:sub>
                              <m:r>
                                <a:rPr lang="en-IN"/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BF1F6D-0822-908A-5FFC-D8605E9C3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023" y="4302679"/>
                <a:ext cx="3715569" cy="1230914"/>
              </a:xfrm>
              <a:prstGeom prst="rect">
                <a:avLst/>
              </a:prstGeom>
              <a:blipFill>
                <a:blip r:embed="rId4"/>
                <a:stretch>
                  <a:fillRect l="-1478" t="-29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E799A-B41D-2DE3-B53F-555381742AEA}"/>
                  </a:ext>
                </a:extLst>
              </p:cNvPr>
              <p:cNvSpPr txBox="1"/>
              <p:nvPr/>
            </p:nvSpPr>
            <p:spPr>
              <a:xfrm>
                <a:off x="591683" y="5634908"/>
                <a:ext cx="4208909" cy="12230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Final Weight Update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+1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+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i="1"/>
                            <m:t>𝜇</m:t>
                          </m:r>
                          <m:r>
                            <m:rPr>
                              <m:nor/>
                            </m:rPr>
                            <a:rPr lang="en-IN"/>
                            <m:t> </m:t>
                          </m:r>
                          <m:r>
                            <a:rPr lang="en-IN" i="1"/>
                            <m:t>𝑒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IN"/>
                            <m:t> </m:t>
                          </m:r>
                          <m:r>
                            <a:rPr lang="en-IN" i="1"/>
                            <m:t>𝐺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 i="1"/>
                            <m:t>𝑥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r>
                                <a:rPr lang="en-IN" i="1"/>
                                <m:t>𝑥</m:t>
                              </m:r>
                            </m:e>
                            <m:sup>
                              <m:r>
                                <a:rPr lang="en-IN" i="1"/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 i="1"/>
                            <m:t>𝐺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 i="1"/>
                            <m:t>𝑥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</m:d>
                          <m:r>
                            <a:rPr lang="en-IN"/>
                            <m:t>+</m:t>
                          </m:r>
                          <m:r>
                            <a:rPr lang="en-IN" i="1"/>
                            <m:t>𝛿</m:t>
                          </m:r>
                        </m:den>
                      </m:f>
                    </m:oMath>
                  </m:oMathPara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0E799A-B41D-2DE3-B53F-555381742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683" y="5634908"/>
                <a:ext cx="4208909" cy="1223092"/>
              </a:xfrm>
              <a:prstGeom prst="rect">
                <a:avLst/>
              </a:prstGeom>
              <a:blipFill>
                <a:blip r:embed="rId5"/>
                <a:stretch>
                  <a:fillRect l="-1159" t="-2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4D82820-E0E6-C1AF-FE5D-86889FB3FE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784067"/>
                  </p:ext>
                </p:extLst>
              </p:nvPr>
            </p:nvGraphicFramePr>
            <p:xfrm>
              <a:off x="6942666" y="3668396"/>
              <a:ext cx="3462868" cy="2468880"/>
            </p:xfrm>
            <a:graphic>
              <a:graphicData uri="http://schemas.openxmlformats.org/drawingml/2006/table">
                <a:tbl>
                  <a:tblPr/>
                  <a:tblGrid>
                    <a:gridCol w="1731434">
                      <a:extLst>
                        <a:ext uri="{9D8B030D-6E8A-4147-A177-3AD203B41FA5}">
                          <a16:colId xmlns:a16="http://schemas.microsoft.com/office/drawing/2014/main" val="552721359"/>
                        </a:ext>
                      </a:extLst>
                    </a:gridCol>
                    <a:gridCol w="1731434">
                      <a:extLst>
                        <a:ext uri="{9D8B030D-6E8A-4147-A177-3AD203B41FA5}">
                          <a16:colId xmlns:a16="http://schemas.microsoft.com/office/drawing/2014/main" val="1674032474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118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Filter Length (M)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200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12257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Step Size (μ)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0.04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2106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72339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139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i="0">
                                        <a:latin typeface="Cambria Math" panose="02040503050406030204" pitchFamily="18" charset="0"/>
                                      </a:rPr>
                                      <m:t>−10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4182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4D82820-E0E6-C1AF-FE5D-86889FB3FE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784067"/>
                  </p:ext>
                </p:extLst>
              </p:nvPr>
            </p:nvGraphicFramePr>
            <p:xfrm>
              <a:off x="6942666" y="3668396"/>
              <a:ext cx="3462868" cy="2468880"/>
            </p:xfrm>
            <a:graphic>
              <a:graphicData uri="http://schemas.openxmlformats.org/drawingml/2006/table">
                <a:tbl>
                  <a:tblPr/>
                  <a:tblGrid>
                    <a:gridCol w="1731434">
                      <a:extLst>
                        <a:ext uri="{9D8B030D-6E8A-4147-A177-3AD203B41FA5}">
                          <a16:colId xmlns:a16="http://schemas.microsoft.com/office/drawing/2014/main" val="552721359"/>
                        </a:ext>
                      </a:extLst>
                    </a:gridCol>
                    <a:gridCol w="1731434">
                      <a:extLst>
                        <a:ext uri="{9D8B030D-6E8A-4147-A177-3AD203B41FA5}">
                          <a16:colId xmlns:a16="http://schemas.microsoft.com/office/drawing/2014/main" val="1674032474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4211894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Filter Length (M)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200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12257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Step Size (μ)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0.04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52106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1" t="-385000" r="-100702" b="-2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723396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1" t="-485000" r="-100702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704" t="-485000" r="-1056" b="-10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13926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1" t="-585000" r="-100702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704" t="-585000" r="-105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74182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44EF867D-E35D-7AC2-3D96-D2FC97948FFF}"/>
              </a:ext>
            </a:extLst>
          </p:cNvPr>
          <p:cNvSpPr txBox="1"/>
          <p:nvPr/>
        </p:nvSpPr>
        <p:spPr>
          <a:xfrm>
            <a:off x="6822731" y="30049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Simulation Parameters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712B8-12F9-36FA-1771-0F229C87A76B}"/>
              </a:ext>
            </a:extLst>
          </p:cNvPr>
          <p:cNvSpPr/>
          <p:nvPr/>
        </p:nvSpPr>
        <p:spPr>
          <a:xfrm>
            <a:off x="1085023" y="4597400"/>
            <a:ext cx="3715569" cy="855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17F39-EE4A-B0D1-4288-99C27BB94E76}"/>
              </a:ext>
            </a:extLst>
          </p:cNvPr>
          <p:cNvSpPr/>
          <p:nvPr/>
        </p:nvSpPr>
        <p:spPr>
          <a:xfrm>
            <a:off x="567267" y="5977467"/>
            <a:ext cx="4208909" cy="7535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379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E174-B486-FC51-DCFF-BC48AEC5F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533" y="331258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Improved Least </a:t>
            </a:r>
            <a:r>
              <a:rPr lang="en-IN" sz="3200" b="1" dirty="0" err="1">
                <a:latin typeface="Book Antiqua" panose="02040602050305030304" pitchFamily="18" charset="0"/>
              </a:rPr>
              <a:t>Lncosh</a:t>
            </a:r>
            <a:r>
              <a:rPr lang="en-IN" sz="3200" b="1" dirty="0">
                <a:latin typeface="Book Antiqua" panose="02040602050305030304" pitchFamily="18" charset="0"/>
              </a:rPr>
              <a:t> (ILL)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93B554-ECC6-831C-5B53-6E6FEE24CC95}"/>
                  </a:ext>
                </a:extLst>
              </p:cNvPr>
              <p:cNvSpPr txBox="1"/>
              <p:nvPr/>
            </p:nvSpPr>
            <p:spPr>
              <a:xfrm>
                <a:off x="804333" y="1439334"/>
                <a:ext cx="9197326" cy="16158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Improve FECG extraction under alpha-stable impulsive noise.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Reduce the parameter-search complexity of </a:t>
                </a:r>
                <a:r>
                  <a:rPr lang="en-IN" dirty="0" err="1"/>
                  <a:t>Llncosh</a:t>
                </a:r>
                <a:r>
                  <a:rPr lang="en-IN" dirty="0"/>
                  <a:t>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Introduce Amplitude Hyperbolic Tangent Transformation (AHTT) for automatic </a:t>
                </a:r>
                <a14:m>
                  <m:oMath xmlns:m="http://schemas.openxmlformats.org/officeDocument/2006/math">
                    <m:r>
                      <a:rPr lang="en-IN" i="1"/>
                      <m:t>𝜆</m:t>
                    </m:r>
                  </m:oMath>
                </a14:m>
                <a:r>
                  <a:rPr lang="en-IN" dirty="0"/>
                  <a:t>optimization.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93B554-ECC6-831C-5B53-6E6FEE24C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333" y="1439334"/>
                <a:ext cx="9197326" cy="1615827"/>
              </a:xfrm>
              <a:prstGeom prst="rect">
                <a:avLst/>
              </a:prstGeom>
              <a:blipFill>
                <a:blip r:embed="rId2"/>
                <a:stretch>
                  <a:fillRect l="-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E40218-0893-0DC1-DCF3-848E5BD242E2}"/>
                  </a:ext>
                </a:extLst>
              </p:cNvPr>
              <p:cNvSpPr txBox="1"/>
              <p:nvPr/>
            </p:nvSpPr>
            <p:spPr>
              <a:xfrm>
                <a:off x="931333" y="2764897"/>
                <a:ext cx="5825121" cy="3023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lnSpc>
                    <a:spcPct val="200000"/>
                  </a:lnSpc>
                </a:pPr>
                <a:r>
                  <a:rPr lang="en-IN" dirty="0"/>
                  <a:t>Cost Function: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𝐽</m:t>
                        </m:r>
                      </m:e>
                      <m:sub>
                        <m:r>
                          <a:rPr lang="en-IN" i="1"/>
                          <m:t>𝐼𝐿𝐿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 i="1"/>
                        </m:ctrlPr>
                      </m:dPr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r>
                              <a:rPr lang="en-IN" i="1"/>
                              <m:t>𝐻</m:t>
                            </m:r>
                            <m:r>
                              <m:rPr>
                                <m:sty m:val="p"/>
                              </m:rPr>
                              <a:rPr lang="en-IN"/>
                              <m:t>ln</m:t>
                            </m:r>
                            <m:r>
                              <a:rPr lang="en-IN"/>
                              <m:t>⁡</m:t>
                            </m:r>
                            <m:d>
                              <m:dPr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/>
                                  <m:t>cosh</m:t>
                                </m:r>
                                <m:r>
                                  <a:rPr lang="en-IN"/>
                                  <m:t>⁡</m:t>
                                </m:r>
                                <m:d>
                                  <m:dPr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0.84</m:t>
                                    </m:r>
                                    <m:r>
                                      <a:rPr lang="en-IN" i="1"/>
                                      <m:t>𝑒</m:t>
                                    </m:r>
                                    <m:r>
                                      <a:rPr lang="en-IN"/>
                                      <m:t>/</m:t>
                                    </m:r>
                                    <m:r>
                                      <a:rPr lang="en-IN" i="1"/>
                                      <m:t>𝐻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IN"/>
                              <m:t>0.84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lvl="0">
                  <a:lnSpc>
                    <a:spcPct val="200000"/>
                  </a:lnSpc>
                </a:pPr>
                <a:r>
                  <a:rPr lang="en-IN" dirty="0"/>
                  <a:t>Gradient: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/>
                        </m:ctrlPr>
                      </m:fPr>
                      <m:num>
                        <m:r>
                          <a:rPr lang="en-IN"/>
                          <m:t>∂</m:t>
                        </m:r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𝐽</m:t>
                            </m:r>
                          </m:e>
                          <m:sub>
                            <m:r>
                              <a:rPr lang="en-IN" i="1"/>
                              <m:t>𝐼𝐿𝐿</m:t>
                            </m:r>
                          </m:sub>
                        </m:sSub>
                      </m:num>
                      <m:den>
                        <m:r>
                          <a:rPr lang="en-IN"/>
                          <m:t>∂</m:t>
                        </m:r>
                        <m:r>
                          <a:rPr lang="en-IN" i="1"/>
                          <m:t>𝑤</m:t>
                        </m:r>
                      </m:den>
                    </m:f>
                    <m:r>
                      <a:rPr lang="en-IN"/>
                      <m:t>=−</m:t>
                    </m:r>
                    <m:func>
                      <m:funcPr>
                        <m:ctrlPr>
                          <a:rPr lang="en-IN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/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IN"/>
                                </m:ctrlPr>
                              </m:fPr>
                              <m:num>
                                <m:r>
                                  <a:rPr lang="en-IN"/>
                                  <m:t>0.84</m:t>
                                </m:r>
                                <m:r>
                                  <a:rPr lang="en-IN" i="1"/>
                                  <m:t>𝑒</m:t>
                                </m:r>
                              </m:num>
                              <m:den>
                                <m:r>
                                  <a:rPr lang="en-IN" i="1"/>
                                  <m:t>𝐻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 i="1"/>
                      <m:t>𝑥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endParaRPr lang="en-IN" dirty="0"/>
              </a:p>
              <a:p>
                <a:pPr lvl="0">
                  <a:lnSpc>
                    <a:spcPct val="200000"/>
                  </a:lnSpc>
                </a:pPr>
                <a:r>
                  <a:rPr lang="en-IN" dirty="0"/>
                  <a:t>Final Update:    </a:t>
                </a:r>
                <a14:m>
                  <m:oMath xmlns:m="http://schemas.openxmlformats.org/officeDocument/2006/math"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  <m:r>
                          <a:rPr lang="en-IN"/>
                          <m:t>+1</m:t>
                        </m:r>
                      </m:e>
                    </m:d>
                    <m:r>
                      <a:rPr lang="en-IN"/>
                      <m:t>=</m:t>
                    </m:r>
                    <m:r>
                      <a:rPr lang="en-IN" i="1"/>
                      <m:t>𝑤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  <m:r>
                      <a:rPr lang="en-IN"/>
                      <m:t>+</m:t>
                    </m:r>
                    <m:r>
                      <a:rPr lang="en-IN" i="1"/>
                      <m:t>𝜇</m:t>
                    </m:r>
                    <m:r>
                      <a:rPr lang="en-IN" i="1"/>
                      <m:t>𝐻</m:t>
                    </m:r>
                    <m:func>
                      <m:funcPr>
                        <m:ctrlPr>
                          <a:rPr lang="en-IN"/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/>
                          <m:t>tanh</m:t>
                        </m:r>
                      </m:fName>
                      <m:e>
                        <m:d>
                          <m:dPr>
                            <m:ctrlPr>
                              <a:rPr lang="en-IN" i="1"/>
                            </m:ctrlPr>
                          </m:dPr>
                          <m:e>
                            <m:f>
                              <m:fPr>
                                <m:ctrlPr>
                                  <a:rPr lang="en-IN"/>
                                </m:ctrlPr>
                              </m:fPr>
                              <m:num>
                                <m:r>
                                  <a:rPr lang="en-IN"/>
                                  <m:t>0.84</m:t>
                                </m:r>
                                <m:r>
                                  <a:rPr lang="en-IN" i="1"/>
                                  <m:t>𝑒</m:t>
                                </m:r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r>
                                      <a:rPr lang="en-IN" i="1"/>
                                      <m:t>𝑛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𝐻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IN" i="1"/>
                      <m:t>𝑥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𝑛</m:t>
                        </m:r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1E40218-0893-0DC1-DCF3-848E5BD24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33" y="2764897"/>
                <a:ext cx="5825121" cy="3023264"/>
              </a:xfrm>
              <a:prstGeom prst="rect">
                <a:avLst/>
              </a:prstGeom>
              <a:blipFill>
                <a:blip r:embed="rId3"/>
                <a:stretch>
                  <a:fillRect l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71832953-DF46-02C5-7EBA-E5039F68A62F}"/>
              </a:ext>
            </a:extLst>
          </p:cNvPr>
          <p:cNvSpPr/>
          <p:nvPr/>
        </p:nvSpPr>
        <p:spPr>
          <a:xfrm>
            <a:off x="2510393" y="3055814"/>
            <a:ext cx="2667000" cy="7450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4DCFDB-9767-6502-732D-4AF792314D74}"/>
              </a:ext>
            </a:extLst>
          </p:cNvPr>
          <p:cNvSpPr/>
          <p:nvPr/>
        </p:nvSpPr>
        <p:spPr>
          <a:xfrm>
            <a:off x="2065867" y="3995940"/>
            <a:ext cx="2717800" cy="601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990582-8FF5-8616-2A6C-A395791A19D2}"/>
              </a:ext>
            </a:extLst>
          </p:cNvPr>
          <p:cNvSpPr/>
          <p:nvPr/>
        </p:nvSpPr>
        <p:spPr>
          <a:xfrm>
            <a:off x="2379187" y="4892050"/>
            <a:ext cx="4504267" cy="6011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0319FBA-3C46-1191-A883-5D3D29208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664487"/>
                  </p:ext>
                </p:extLst>
              </p:nvPr>
            </p:nvGraphicFramePr>
            <p:xfrm>
              <a:off x="7442198" y="3369919"/>
              <a:ext cx="4216402" cy="1737360"/>
            </p:xfrm>
            <a:graphic>
              <a:graphicData uri="http://schemas.openxmlformats.org/drawingml/2006/table">
                <a:tbl>
                  <a:tblPr/>
                  <a:tblGrid>
                    <a:gridCol w="2108201">
                      <a:extLst>
                        <a:ext uri="{9D8B030D-6E8A-4147-A177-3AD203B41FA5}">
                          <a16:colId xmlns:a16="http://schemas.microsoft.com/office/drawing/2014/main" val="2620182001"/>
                        </a:ext>
                      </a:extLst>
                    </a:gridCol>
                    <a:gridCol w="2108201">
                      <a:extLst>
                        <a:ext uri="{9D8B030D-6E8A-4147-A177-3AD203B41FA5}">
                          <a16:colId xmlns:a16="http://schemas.microsoft.com/office/drawing/2014/main" val="362617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4940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Filter Length (M)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8411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Step Size (μ)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82703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Noise Condition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=1.4</m:t>
                              </m:r>
                            </m:oMath>
                          </a14:m>
                          <a:r>
                            <a:rPr lang="en-IN" dirty="0"/>
                            <a:t>, GSNR = 15 dB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50273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B0319FBA-3C46-1191-A883-5D3D292086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4664487"/>
                  </p:ext>
                </p:extLst>
              </p:nvPr>
            </p:nvGraphicFramePr>
            <p:xfrm>
              <a:off x="7442198" y="3369919"/>
              <a:ext cx="4216402" cy="1737360"/>
            </p:xfrm>
            <a:graphic>
              <a:graphicData uri="http://schemas.openxmlformats.org/drawingml/2006/table">
                <a:tbl>
                  <a:tblPr/>
                  <a:tblGrid>
                    <a:gridCol w="2108201">
                      <a:extLst>
                        <a:ext uri="{9D8B030D-6E8A-4147-A177-3AD203B41FA5}">
                          <a16:colId xmlns:a16="http://schemas.microsoft.com/office/drawing/2014/main" val="2620182001"/>
                        </a:ext>
                      </a:extLst>
                    </a:gridCol>
                    <a:gridCol w="2108201">
                      <a:extLst>
                        <a:ext uri="{9D8B030D-6E8A-4147-A177-3AD203B41FA5}">
                          <a16:colId xmlns:a16="http://schemas.microsoft.com/office/drawing/2014/main" val="3626177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Parameter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Value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349409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Filter Length (M)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8411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Step Size (μ)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0.03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827030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Noise Condition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578" t="-177143" r="-578" b="-152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50273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6A4F87D7-FE14-86A0-1480-1A0FBAB3C01C}"/>
              </a:ext>
            </a:extLst>
          </p:cNvPr>
          <p:cNvSpPr txBox="1"/>
          <p:nvPr/>
        </p:nvSpPr>
        <p:spPr>
          <a:xfrm>
            <a:off x="7357491" y="28708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Simulation Parameters</a:t>
            </a:r>
          </a:p>
        </p:txBody>
      </p:sp>
    </p:spTree>
    <p:extLst>
      <p:ext uri="{BB962C8B-B14F-4D97-AF65-F5344CB8AC3E}">
        <p14:creationId xmlns:p14="http://schemas.microsoft.com/office/powerpoint/2010/main" val="1804113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E1E47-57AA-7C53-F2C7-76369F3F8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447" y="251913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Logarithmic Hyperbolic Secant 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B1D364-80A7-0DF4-AD61-1C6663DCB63E}"/>
              </a:ext>
            </a:extLst>
          </p:cNvPr>
          <p:cNvSpPr txBox="1"/>
          <p:nvPr/>
        </p:nvSpPr>
        <p:spPr>
          <a:xfrm>
            <a:off x="681447" y="1499084"/>
            <a:ext cx="87121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Improve FECG extraction under alpha-stable impulsive noise.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Reduce the influence of large errors using a Logarithmic Hyperbolic Secant cost function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11E1C-5D03-595C-4888-BB72ECF766B5}"/>
                  </a:ext>
                </a:extLst>
              </p:cNvPr>
              <p:cNvSpPr txBox="1"/>
              <p:nvPr/>
            </p:nvSpPr>
            <p:spPr>
              <a:xfrm>
                <a:off x="1032933" y="2844800"/>
                <a:ext cx="5092869" cy="7818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Cost Function: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a:rPr lang="en-IN" i="1"/>
                          <m:t>𝐽</m:t>
                        </m:r>
                      </m:e>
                      <m:sub>
                        <m:r>
                          <a:rPr lang="en-IN" i="1"/>
                          <m:t>𝐿𝐻𝑆𝐴𝐹</m:t>
                        </m:r>
                      </m:sub>
                    </m:sSub>
                    <m:r>
                      <a:rPr lang="en-IN"/>
                      <m:t>=</m:t>
                    </m:r>
                    <m:r>
                      <a:rPr lang="en-IN" i="1"/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IN"/>
                        </m:ctrlPr>
                      </m:dPr>
                      <m:e>
                        <m:r>
                          <a:rPr lang="en-IN"/>
                          <m:t>−</m:t>
                        </m:r>
                        <m:f>
                          <m:fPr>
                            <m:ctrlPr>
                              <a:rPr lang="en-IN"/>
                            </m:ctrlPr>
                          </m:fPr>
                          <m:num>
                            <m:r>
                              <a:rPr lang="en-IN"/>
                              <m:t>1</m:t>
                            </m:r>
                          </m:num>
                          <m:den>
                            <m:r>
                              <a:rPr lang="en-IN" i="1"/>
                              <m:t>𝜆</m:t>
                            </m:r>
                          </m:den>
                        </m:f>
                        <m:func>
                          <m:funcPr>
                            <m:ctrlPr>
                              <a:rPr lang="en-IN"/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/>
                              <m:t>ln</m:t>
                            </m:r>
                          </m:fName>
                          <m:e>
                            <m:d>
                              <m:dPr>
                                <m:ctrlPr>
                                  <a:rPr lang="en-IN"/>
                                </m:ctrlPr>
                              </m:dPr>
                              <m:e>
                                <m:r>
                                  <a:rPr lang="en-IN"/>
                                  <m:t>1+</m:t>
                                </m:r>
                                <m:r>
                                  <m:rPr>
                                    <m:sty m:val="p"/>
                                  </m:rPr>
                                  <a:rPr lang="en-IN"/>
                                  <m:t>sech</m:t>
                                </m:r>
                                <m:r>
                                  <a:rPr lang="en-IN"/>
                                  <m:t>⁡</m:t>
                                </m:r>
                                <m:d>
                                  <m:dPr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r>
                                      <a:rPr lang="en-IN" i="1"/>
                                      <m:t>𝜆</m:t>
                                    </m:r>
                                    <m:r>
                                      <a:rPr lang="en-IN" i="1"/>
                                      <m:t>𝑒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0611E1C-5D03-595C-4888-BB72ECF76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933" y="2844800"/>
                <a:ext cx="5092869" cy="781817"/>
              </a:xfrm>
              <a:prstGeom prst="rect">
                <a:avLst/>
              </a:prstGeom>
              <a:blipFill>
                <a:blip r:embed="rId2"/>
                <a:stretch>
                  <a:fillRect l="-9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D46DDEB-B424-0E07-FB1A-B09CF90F562C}"/>
              </a:ext>
            </a:extLst>
          </p:cNvPr>
          <p:cNvSpPr txBox="1"/>
          <p:nvPr/>
        </p:nvSpPr>
        <p:spPr>
          <a:xfrm>
            <a:off x="1032933" y="3946584"/>
            <a:ext cx="1019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Gradient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09AFA-64A7-C5AA-544B-A066408A4467}"/>
                  </a:ext>
                </a:extLst>
              </p:cNvPr>
              <p:cNvSpPr txBox="1"/>
              <p:nvPr/>
            </p:nvSpPr>
            <p:spPr>
              <a:xfrm>
                <a:off x="2161974" y="3800506"/>
                <a:ext cx="3934026" cy="9460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/>
                          </m:ctrlPr>
                        </m:fPr>
                        <m:num>
                          <m:r>
                            <a:rPr lang="en-IN"/>
                            <m:t>∂</m:t>
                          </m:r>
                          <m:r>
                            <a:rPr lang="en-IN" i="1"/>
                            <m:t>𝐽</m:t>
                          </m:r>
                        </m:num>
                        <m:den>
                          <m:r>
                            <a:rPr lang="en-IN"/>
                            <m:t>∂</m:t>
                          </m:r>
                          <m:r>
                            <a:rPr lang="en-IN" i="1"/>
                            <m:t>𝑤</m:t>
                          </m:r>
                        </m:den>
                      </m:f>
                      <m:r>
                        <a:rPr lang="en-IN"/>
                        <m:t>=−</m:t>
                      </m:r>
                      <m:f>
                        <m:fPr>
                          <m:ctrlPr>
                            <a:rPr lang="en-IN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IN"/>
                            <m:t>tanh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</m:e>
                          </m:d>
                        </m:num>
                        <m:den>
                          <m:r>
                            <a:rPr lang="en-IN"/>
                            <m:t>1+</m:t>
                          </m:r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</m:e>
                          </m:d>
                        </m:den>
                      </m:f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3C09AFA-64A7-C5AA-544B-A066408A4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974" y="3800506"/>
                <a:ext cx="3934026" cy="9460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CD8258-6574-45A9-8E6A-EEA50EED5FBF}"/>
                  </a:ext>
                </a:extLst>
              </p:cNvPr>
              <p:cNvSpPr txBox="1"/>
              <p:nvPr/>
            </p:nvSpPr>
            <p:spPr>
              <a:xfrm>
                <a:off x="1227667" y="4859867"/>
                <a:ext cx="5385320" cy="13114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Final Weight Update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+1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+</m:t>
                      </m:r>
                      <m:r>
                        <a:rPr lang="en-IN" i="1"/>
                        <m:t>𝜇</m:t>
                      </m:r>
                      <m:f>
                        <m:fPr>
                          <m:ctrlPr>
                            <a:rPr lang="en-IN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/>
                            <m:t>tanh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r>
                                    <a:rPr lang="en-IN" i="1"/>
                                    <m:t>𝑛</m:t>
                                  </m:r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r>
                                    <a:rPr lang="en-IN" i="1"/>
                                    <m:t>𝑛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IN"/>
                            <m:t>1+</m:t>
                          </m:r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r>
                                <a:rPr lang="en-IN" i="1"/>
                                <m:t>𝜆</m:t>
                              </m:r>
                              <m:r>
                                <a:rPr lang="en-IN" i="1"/>
                                <m:t>𝑒</m:t>
                              </m:r>
                              <m:d>
                                <m:dPr>
                                  <m:ctrlPr>
                                    <a:rPr lang="en-IN" i="1"/>
                                  </m:ctrlPr>
                                </m:dPr>
                                <m:e>
                                  <m:r>
                                    <a:rPr lang="en-IN" i="1"/>
                                    <m:t>𝑛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0CD8258-6574-45A9-8E6A-EEA50EED5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667" y="4859867"/>
                <a:ext cx="5385320" cy="1311449"/>
              </a:xfrm>
              <a:prstGeom prst="rect">
                <a:avLst/>
              </a:prstGeom>
              <a:blipFill>
                <a:blip r:embed="rId4"/>
                <a:stretch>
                  <a:fillRect l="-905" t="-23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A108BC0C-0A05-879C-8432-E52D9647D53C}"/>
              </a:ext>
            </a:extLst>
          </p:cNvPr>
          <p:cNvSpPr/>
          <p:nvPr/>
        </p:nvSpPr>
        <p:spPr>
          <a:xfrm>
            <a:off x="2658533" y="2844800"/>
            <a:ext cx="3530600" cy="584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3F252-2A1E-A42D-56E1-04DF82C7B86C}"/>
              </a:ext>
            </a:extLst>
          </p:cNvPr>
          <p:cNvSpPr/>
          <p:nvPr/>
        </p:nvSpPr>
        <p:spPr>
          <a:xfrm>
            <a:off x="2540000" y="3737930"/>
            <a:ext cx="3378200" cy="7818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D139C4-1C44-27EC-6103-26F23AEF4032}"/>
              </a:ext>
            </a:extLst>
          </p:cNvPr>
          <p:cNvSpPr/>
          <p:nvPr/>
        </p:nvSpPr>
        <p:spPr>
          <a:xfrm>
            <a:off x="1312333" y="5207000"/>
            <a:ext cx="5300654" cy="7728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513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91E3-143E-FC8B-6567-BF60D139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ILHSAF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13DD26-D1C0-B26D-0115-E9B61AC17783}"/>
                  </a:ext>
                </a:extLst>
              </p:cNvPr>
              <p:cNvSpPr txBox="1"/>
              <p:nvPr/>
            </p:nvSpPr>
            <p:spPr>
              <a:xfrm>
                <a:off x="838200" y="1490133"/>
                <a:ext cx="845173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Enhance LHSAF by introducing Amplitude Hyperbolic Tangent Transformation (AHTT).</a:t>
                </a:r>
              </a:p>
              <a:p>
                <a:pPr marL="285750" lvl="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/>
                  <a:t>Eliminate manual tuning of </a:t>
                </a:r>
                <a14:m>
                  <m:oMath xmlns:m="http://schemas.openxmlformats.org/officeDocument/2006/math">
                    <m:r>
                      <a:rPr lang="en-IN" i="1"/>
                      <m:t>𝜆</m:t>
                    </m:r>
                  </m:oMath>
                </a14:m>
                <a:r>
                  <a:rPr lang="en-IN" dirty="0"/>
                  <a:t>using signal amplitude.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913DD26-D1C0-B26D-0115-E9B61AC17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90133"/>
                <a:ext cx="8451737" cy="1200329"/>
              </a:xfrm>
              <a:prstGeom prst="rect">
                <a:avLst/>
              </a:prstGeom>
              <a:blipFill>
                <a:blip r:embed="rId2"/>
                <a:stretch>
                  <a:fillRect l="-5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BBBFD2-EA69-D61D-B8F3-74B9B4FFB8D0}"/>
                  </a:ext>
                </a:extLst>
              </p:cNvPr>
              <p:cNvSpPr txBox="1"/>
              <p:nvPr/>
            </p:nvSpPr>
            <p:spPr>
              <a:xfrm>
                <a:off x="838200" y="2690462"/>
                <a:ext cx="2815451" cy="1268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AHTT Transformation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𝜅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𝑥</m:t>
                          </m:r>
                        </m:e>
                      </m:d>
                      <m:r>
                        <a:rPr lang="en-IN"/>
                        <m:t>=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i="1"/>
                            <m:t>𝐻</m:t>
                          </m:r>
                        </m:num>
                        <m:den>
                          <m:r>
                            <a:rPr lang="en-IN"/>
                            <m:t>0.35</m:t>
                          </m:r>
                        </m:den>
                      </m:f>
                      <m:func>
                        <m:funcPr>
                          <m:ctrlPr>
                            <a:rPr lang="en-IN"/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/>
                            <m:t>tanh</m:t>
                          </m:r>
                        </m:fName>
                        <m:e>
                          <m:d>
                            <m:dPr>
                              <m:ctrlPr>
                                <a:rPr lang="en-IN" i="1"/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/>
                                  </m:ctrlPr>
                                </m:fPr>
                                <m:num>
                                  <m:r>
                                    <a:rPr lang="en-IN"/>
                                    <m:t>0.35</m:t>
                                  </m:r>
                                  <m:r>
                                    <a:rPr lang="en-IN" i="1"/>
                                    <m:t>𝑥</m:t>
                                  </m:r>
                                </m:num>
                                <m:den>
                                  <m:r>
                                    <a:rPr lang="en-IN" i="1"/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BBBFD2-EA69-D61D-B8F3-74B9B4FFB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90462"/>
                <a:ext cx="2815451" cy="1268681"/>
              </a:xfrm>
              <a:prstGeom prst="rect">
                <a:avLst/>
              </a:prstGeom>
              <a:blipFill>
                <a:blip r:embed="rId3"/>
                <a:stretch>
                  <a:fillRect l="-1952" t="-24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645EA7-0F53-B997-27F6-EDFBAB120427}"/>
                  </a:ext>
                </a:extLst>
              </p:cNvPr>
              <p:cNvSpPr txBox="1"/>
              <p:nvPr/>
            </p:nvSpPr>
            <p:spPr>
              <a:xfrm>
                <a:off x="1464733" y="4072467"/>
                <a:ext cx="460574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Normalization Parameter</a:t>
                </a:r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H=max{∣max(0.1MECG)∣,∣min(0.1MECG)∣}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645EA7-0F53-B997-27F6-EDFBAB120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4733" y="4072467"/>
                <a:ext cx="4605748" cy="646331"/>
              </a:xfrm>
              <a:prstGeom prst="rect">
                <a:avLst/>
              </a:prstGeom>
              <a:blipFill>
                <a:blip r:embed="rId4"/>
                <a:stretch>
                  <a:fillRect l="-1058" t="-4717" b="-94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5FBD06-B7FC-72D0-108D-173A0593ABDE}"/>
                  </a:ext>
                </a:extLst>
              </p:cNvPr>
              <p:cNvSpPr txBox="1"/>
              <p:nvPr/>
            </p:nvSpPr>
            <p:spPr>
              <a:xfrm>
                <a:off x="6604000" y="2954867"/>
                <a:ext cx="4467698" cy="12686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Cost Function</a:t>
                </a: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/>
                          </m:ctrlPr>
                        </m:sSubPr>
                        <m:e>
                          <m:r>
                            <a:rPr lang="en-IN" i="1"/>
                            <m:t>𝐽</m:t>
                          </m:r>
                        </m:e>
                        <m:sub>
                          <m:r>
                            <a:rPr lang="en-IN" i="1"/>
                            <m:t>𝐼𝐿𝐻𝑆𝐴𝐹</m:t>
                          </m:r>
                        </m:sub>
                      </m:sSub>
                      <m:r>
                        <a:rPr lang="en-IN"/>
                        <m:t>=</m:t>
                      </m:r>
                      <m:r>
                        <a:rPr lang="en-IN" i="1"/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IN"/>
                          </m:ctrlPr>
                        </m:dPr>
                        <m:e>
                          <m:r>
                            <a:rPr lang="en-IN"/>
                            <m:t>−</m:t>
                          </m:r>
                          <m:f>
                            <m:fPr>
                              <m:ctrlPr>
                                <a:rPr lang="en-IN" i="1"/>
                              </m:ctrlPr>
                            </m:fPr>
                            <m:num>
                              <m:r>
                                <a:rPr lang="en-IN" i="1"/>
                                <m:t>𝐻</m:t>
                              </m:r>
                            </m:num>
                            <m:den>
                              <m:r>
                                <a:rPr lang="en-IN"/>
                                <m:t>0.35</m:t>
                              </m:r>
                            </m:den>
                          </m:f>
                          <m:func>
                            <m:funcPr>
                              <m:ctrlPr>
                                <a:rPr lang="en-IN"/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/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IN"/>
                                  </m:ctrlPr>
                                </m:dPr>
                                <m:e>
                                  <m:r>
                                    <a:rPr lang="en-IN"/>
                                    <m:t>1+</m:t>
                                  </m:r>
                                  <m:func>
                                    <m:funcPr>
                                      <m:ctrlPr>
                                        <a:rPr lang="en-IN"/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IN"/>
                                        <m:t>sech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IN" i="1"/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IN"/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IN"/>
                                                <m:t>0.35</m:t>
                                              </m:r>
                                              <m:r>
                                                <a:rPr lang="en-IN" i="1"/>
                                                <m:t>𝑒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IN" i="1"/>
                                                <m:t>𝐻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5FBD06-B7FC-72D0-108D-173A0593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954867"/>
                <a:ext cx="4467698" cy="1268681"/>
              </a:xfrm>
              <a:prstGeom prst="rect">
                <a:avLst/>
              </a:prstGeom>
              <a:blipFill>
                <a:blip r:embed="rId5"/>
                <a:stretch>
                  <a:fillRect l="-1091" t="-28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09786D-79FA-CD15-C974-5560947E40AF}"/>
                  </a:ext>
                </a:extLst>
              </p:cNvPr>
              <p:cNvSpPr txBox="1"/>
              <p:nvPr/>
            </p:nvSpPr>
            <p:spPr>
              <a:xfrm>
                <a:off x="6096000" y="4872462"/>
                <a:ext cx="5847113" cy="12305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b="1" dirty="0"/>
                  <a:t>Final Weight Update</a:t>
                </a:r>
              </a:p>
              <a:p>
                <a14:m>
                  <m:oMathPara xmlns:m="http://schemas.openxmlformats.org/officeDocument/2006/math">
                    <m:oMath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  <m:r>
                            <a:rPr lang="en-IN"/>
                            <m:t>+1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𝑤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+</m:t>
                      </m:r>
                      <m:r>
                        <a:rPr lang="en-IN" i="1"/>
                        <m:t>𝜇</m:t>
                      </m:r>
                      <m:f>
                        <m:fPr>
                          <m:ctrlPr>
                            <a:rPr lang="en-IN"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/>
                            <m:t>tanh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/>
                              </m:ctrlPr>
                            </m:dPr>
                            <m:e>
                              <m:r>
                                <a:rPr lang="en-IN"/>
                                <m:t>0.35</m:t>
                              </m:r>
                              <m:r>
                                <a:rPr lang="en-IN" i="1"/>
                                <m:t>𝑒</m:t>
                              </m:r>
                              <m:r>
                                <a:rPr lang="en-IN"/>
                                <m:t>/</m:t>
                              </m:r>
                              <m:r>
                                <a:rPr lang="en-IN" i="1"/>
                                <m:t>𝐻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/>
                              </m:ctrlPr>
                            </m:dPr>
                            <m:e>
                              <m:r>
                                <a:rPr lang="en-IN"/>
                                <m:t>0.35</m:t>
                              </m:r>
                              <m:r>
                                <a:rPr lang="en-IN" i="1"/>
                                <m:t>𝑒</m:t>
                              </m:r>
                              <m:r>
                                <a:rPr lang="en-IN"/>
                                <m:t>/</m:t>
                              </m:r>
                              <m:r>
                                <a:rPr lang="en-IN" i="1"/>
                                <m:t>𝐻</m:t>
                              </m:r>
                            </m:e>
                          </m:d>
                        </m:num>
                        <m:den>
                          <m:r>
                            <a:rPr lang="en-IN"/>
                            <m:t>1+</m:t>
                          </m:r>
                          <m:r>
                            <m:rPr>
                              <m:sty m:val="p"/>
                            </m:rPr>
                            <a:rPr lang="en-IN"/>
                            <m:t>sech</m:t>
                          </m:r>
                          <m:r>
                            <a:rPr lang="en-IN"/>
                            <m:t>⁡</m:t>
                          </m:r>
                          <m:d>
                            <m:dPr>
                              <m:ctrlPr>
                                <a:rPr lang="en-IN"/>
                              </m:ctrlPr>
                            </m:dPr>
                            <m:e>
                              <m:r>
                                <a:rPr lang="en-IN"/>
                                <m:t>0.35</m:t>
                              </m:r>
                              <m:r>
                                <a:rPr lang="en-IN" i="1"/>
                                <m:t>𝑒</m:t>
                              </m:r>
                              <m:r>
                                <a:rPr lang="en-IN"/>
                                <m:t>/</m:t>
                              </m:r>
                              <m:r>
                                <a:rPr lang="en-IN" i="1"/>
                                <m:t>𝐻</m:t>
                              </m:r>
                            </m:e>
                          </m:d>
                        </m:den>
                      </m:f>
                      <m:r>
                        <a:rPr lang="en-IN" i="1"/>
                        <m:t>𝑥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B09786D-79FA-CD15-C974-5560947E40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872462"/>
                <a:ext cx="5847113" cy="1230530"/>
              </a:xfrm>
              <a:prstGeom prst="rect">
                <a:avLst/>
              </a:prstGeom>
              <a:blipFill>
                <a:blip r:embed="rId6"/>
                <a:stretch>
                  <a:fillRect l="-834" t="-2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6889953-E488-5E15-F0DD-9387836F3087}"/>
              </a:ext>
            </a:extLst>
          </p:cNvPr>
          <p:cNvSpPr/>
          <p:nvPr/>
        </p:nvSpPr>
        <p:spPr>
          <a:xfrm>
            <a:off x="931333" y="3031067"/>
            <a:ext cx="2815451" cy="78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68E8A-FDC3-D81E-2645-581ACD1A5643}"/>
              </a:ext>
            </a:extLst>
          </p:cNvPr>
          <p:cNvSpPr/>
          <p:nvPr/>
        </p:nvSpPr>
        <p:spPr>
          <a:xfrm>
            <a:off x="6604000" y="3288064"/>
            <a:ext cx="4605748" cy="78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2B9AA8-CF6D-80FA-128A-B8190AC3BB55}"/>
              </a:ext>
            </a:extLst>
          </p:cNvPr>
          <p:cNvSpPr/>
          <p:nvPr/>
        </p:nvSpPr>
        <p:spPr>
          <a:xfrm>
            <a:off x="1583267" y="4411133"/>
            <a:ext cx="4309533" cy="4209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A24257-9DE9-F8BD-6715-736B4FD614D5}"/>
              </a:ext>
            </a:extLst>
          </p:cNvPr>
          <p:cNvSpPr/>
          <p:nvPr/>
        </p:nvSpPr>
        <p:spPr>
          <a:xfrm>
            <a:off x="6180667" y="5223933"/>
            <a:ext cx="5762446" cy="8790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349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D3AE-9F30-B1EA-C468-1044F9BA8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67" y="204258"/>
            <a:ext cx="4411133" cy="1325563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Performance Metrics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280A4-772D-6F19-372B-8D56EA32C84C}"/>
                  </a:ext>
                </a:extLst>
              </p:cNvPr>
              <p:cNvSpPr txBox="1"/>
              <p:nvPr/>
            </p:nvSpPr>
            <p:spPr>
              <a:xfrm>
                <a:off x="745067" y="1354667"/>
                <a:ext cx="4200252" cy="3273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RMSE       </a:t>
                </a:r>
                <a14:m>
                  <m:oMath xmlns:m="http://schemas.openxmlformats.org/officeDocument/2006/math">
                    <m:r>
                      <a:rPr lang="en-IN" i="1"/>
                      <m:t>𝑅𝑀𝑆𝐸</m:t>
                    </m:r>
                    <m:r>
                      <a:rPr lang="en-IN"/>
                      <m:t>=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/>
                            </m:ctrlPr>
                          </m:fPr>
                          <m:num>
                            <m:r>
                              <a:rPr lang="en-IN"/>
                              <m:t>1</m:t>
                            </m:r>
                          </m:num>
                          <m:den>
                            <m:r>
                              <a:rPr lang="en-IN" i="1"/>
                              <m:t>𝑁</m:t>
                            </m:r>
                          </m:den>
                        </m:f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IN" i="1"/>
                            </m:ctrlPr>
                          </m:naryPr>
                          <m:sub/>
                          <m:sup/>
                          <m:e>
                            <m:r>
                              <a:rPr lang="en-IN"/>
                              <m:t>(</m:t>
                            </m:r>
                          </m:e>
                        </m:nary>
                        <m:d>
                          <m:dPr>
                            <m:begChr m:val=""/>
                            <m:endChr m:val=""/>
                            <m:ctrlPr>
                              <a:rPr lang="en-IN" i="1"/>
                            </m:ctrlPr>
                          </m:dPr>
                          <m:e>
                            <m:r>
                              <a:rPr lang="en-IN" i="1"/>
                              <m:t>𝑒</m:t>
                            </m:r>
                            <m:r>
                              <a:rPr lang="en-IN"/>
                              <m:t>−</m:t>
                            </m:r>
                            <m:r>
                              <a:rPr lang="en-IN" i="1"/>
                              <m:t>𝑠</m:t>
                            </m:r>
                            <m:sSup>
                              <m:sSupPr>
                                <m:ctrlPr>
                                  <a:rPr lang="en-IN" i="1"/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/>
                                    </m:ctrlPr>
                                  </m:dPr>
                                  <m:e>
                                    <m:r>
                                      <a:rPr lang="en-IN"/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/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rad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Measures reconstruction error.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PRD        </a:t>
                </a:r>
                <a14:m>
                  <m:oMath xmlns:m="http://schemas.openxmlformats.org/officeDocument/2006/math">
                    <m:r>
                      <a:rPr lang="en-IN" i="1"/>
                      <m:t>𝑃𝑅𝐷</m:t>
                    </m:r>
                    <m:r>
                      <a:rPr lang="en-IN"/>
                      <m:t>=100</m:t>
                    </m:r>
                    <m:rad>
                      <m:radPr>
                        <m:degHide m:val="on"/>
                        <m:ctrlPr>
                          <a:rPr lang="en-IN" i="1"/>
                        </m:ctrlPr>
                      </m:radPr>
                      <m:deg/>
                      <m:e>
                        <m:f>
                          <m:fPr>
                            <m:ctrlPr>
                              <a:rPr lang="en-IN" i="1"/>
                            </m:ctrlPr>
                          </m:fPr>
                          <m:num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IN" i="1"/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IN"/>
                                  <m:t>(</m:t>
                                </m:r>
                              </m:e>
                            </m:nary>
                            <m:d>
                              <m:dPr>
                                <m:begChr m:val=""/>
                                <m:endChr m:val=""/>
                                <m:ctrlPr>
                                  <a:rPr lang="en-IN" i="1"/>
                                </m:ctrlPr>
                              </m:dPr>
                              <m:e>
                                <m:r>
                                  <a:rPr lang="en-IN" i="1"/>
                                  <m:t>𝑒</m:t>
                                </m:r>
                                <m:r>
                                  <a:rPr lang="en-IN"/>
                                  <m:t>−</m:t>
                                </m:r>
                                <m:r>
                                  <a:rPr lang="en-IN" i="1"/>
                                  <m:t>𝑠</m:t>
                                </m:r>
                                <m:sSup>
                                  <m:sSupPr>
                                    <m:ctrlPr>
                                      <a:rPr lang="en-IN" i="1"/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"/>
                                        <m:endChr m:val=""/>
                                        <m:ctrlPr>
                                          <a:rPr lang="en-IN"/>
                                        </m:ctrlPr>
                                      </m:dPr>
                                      <m:e>
                                        <m:r>
                                          <a:rPr lang="en-IN"/>
                                          <m:t>)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IN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nary>
                              <m:naryPr>
                                <m:chr m:val="∑"/>
                                <m:grow m:val="on"/>
                                <m:subHide m:val="on"/>
                                <m:supHide m:val="on"/>
                                <m:ctrlPr>
                                  <a:rPr lang="en-IN" i="1"/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IN" i="1"/>
                                    </m:ctrlPr>
                                  </m:sSupPr>
                                  <m:e>
                                    <m:r>
                                      <a:rPr lang="en-IN" i="1"/>
                                      <m:t>𝑠</m:t>
                                    </m:r>
                                  </m:e>
                                  <m:sup>
                                    <m:r>
                                      <a:rPr lang="en-IN"/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den>
                        </m:f>
                      </m:e>
                    </m:rad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Lower PRD indicates better reconstruction.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F280A4-772D-6F19-372B-8D56EA32C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67" y="1354667"/>
                <a:ext cx="4200252" cy="3273460"/>
              </a:xfrm>
              <a:prstGeom prst="rect">
                <a:avLst/>
              </a:prstGeom>
              <a:blipFill>
                <a:blip r:embed="rId2"/>
                <a:stretch>
                  <a:fillRect l="-1161" r="-7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613BF5-34D7-8498-CDCB-F1B50E6BBD07}"/>
                  </a:ext>
                </a:extLst>
              </p:cNvPr>
              <p:cNvSpPr txBox="1"/>
              <p:nvPr/>
            </p:nvSpPr>
            <p:spPr>
              <a:xfrm>
                <a:off x="5436796" y="1270000"/>
                <a:ext cx="3619773" cy="292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SNR 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𝑆𝑁𝑅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=10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grow m:val="on"/>
                            <m:subHide m:val="on"/>
                            <m:supHide m:val="on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d>
                          <m:dPr>
                            <m:begChr m:val=""/>
                            <m:endChr m:val="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en-IN" dirty="0"/>
              </a:p>
              <a:p>
                <a:pPr>
                  <a:lnSpc>
                    <a:spcPct val="200000"/>
                  </a:lnSpc>
                </a:pPr>
                <a:r>
                  <a:rPr lang="en-IN" dirty="0"/>
                  <a:t>Higher SNR means cleaner </a:t>
                </a:r>
                <a:r>
                  <a:rPr lang="en-IN" dirty="0" err="1"/>
                  <a:t>fetal</a:t>
                </a:r>
                <a:r>
                  <a:rPr lang="en-IN" dirty="0"/>
                  <a:t> ECG.</a:t>
                </a:r>
              </a:p>
              <a:p>
                <a:pPr marL="285750" indent="-28575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IN" b="1" dirty="0"/>
                  <a:t>AMSE  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𝐴𝑀𝑆𝐸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d>
                      <m:dPr>
                        <m:begChr m:val=""/>
                        <m:endChr m:val="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dirty="0"/>
                  <a:t>Used to </a:t>
                </a:r>
                <a:r>
                  <a:rPr lang="en-IN" dirty="0" err="1"/>
                  <a:t>analyze</a:t>
                </a:r>
                <a:r>
                  <a:rPr lang="en-IN" dirty="0"/>
                  <a:t> convergence.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613BF5-34D7-8498-CDCB-F1B50E6BB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796" y="1270000"/>
                <a:ext cx="3619773" cy="2924775"/>
              </a:xfrm>
              <a:prstGeom prst="rect">
                <a:avLst/>
              </a:prstGeom>
              <a:blipFill>
                <a:blip r:embed="rId3"/>
                <a:stretch>
                  <a:fillRect l="-1515" r="-673" b="-6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6356D095-A154-9D70-8A72-7A8A4A259F0F}"/>
              </a:ext>
            </a:extLst>
          </p:cNvPr>
          <p:cNvSpPr/>
          <p:nvPr/>
        </p:nvSpPr>
        <p:spPr>
          <a:xfrm>
            <a:off x="1955800" y="1529821"/>
            <a:ext cx="2607733" cy="739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CE6B60-8792-1FFE-4828-ECE022B512D2}"/>
              </a:ext>
            </a:extLst>
          </p:cNvPr>
          <p:cNvSpPr/>
          <p:nvPr/>
        </p:nvSpPr>
        <p:spPr>
          <a:xfrm>
            <a:off x="1811867" y="2929467"/>
            <a:ext cx="2540000" cy="92286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A54288-5C47-7126-42E5-A6C69052CA53}"/>
              </a:ext>
            </a:extLst>
          </p:cNvPr>
          <p:cNvSpPr/>
          <p:nvPr/>
        </p:nvSpPr>
        <p:spPr>
          <a:xfrm>
            <a:off x="6451600" y="1456267"/>
            <a:ext cx="2489200" cy="635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1855BC-5A80-75C5-78FE-862F4F0021B7}"/>
              </a:ext>
            </a:extLst>
          </p:cNvPr>
          <p:cNvSpPr/>
          <p:nvPr/>
        </p:nvSpPr>
        <p:spPr>
          <a:xfrm>
            <a:off x="6567369" y="2870200"/>
            <a:ext cx="2489200" cy="6519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867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F550-F732-11C5-BAD6-58ECD7E9A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517525"/>
            <a:ext cx="6341533" cy="447675"/>
          </a:xfrm>
        </p:spPr>
        <p:txBody>
          <a:bodyPr>
            <a:normAutofit fontScale="90000"/>
          </a:bodyPr>
          <a:lstStyle/>
          <a:p>
            <a:r>
              <a:rPr lang="en-IN" sz="3200" b="1" dirty="0">
                <a:latin typeface="Book Antiqua" panose="02040602050305030304" pitchFamily="18" charset="0"/>
              </a:rPr>
              <a:t>Signal Reconstruction Results</a:t>
            </a:r>
            <a:br>
              <a:rPr lang="en-IN" sz="3200" b="1" dirty="0">
                <a:latin typeface="Book Antiqua" panose="02040602050305030304" pitchFamily="18" charset="0"/>
              </a:rPr>
            </a:br>
            <a:endParaRPr lang="en-IN" sz="3200" b="1" dirty="0">
              <a:latin typeface="Book Antiqua" panose="0204060205030503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E5856-E0C7-D65A-22FD-2E01C4CFE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38" y="1584279"/>
            <a:ext cx="5332995" cy="22341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C4A569-5FAB-6BDA-CA0C-BFAC218F8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30200"/>
            <a:ext cx="5156200" cy="5689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522D73-EB69-8156-D0B6-100E343691E5}"/>
              </a:ext>
            </a:extLst>
          </p:cNvPr>
          <p:cNvSpPr txBox="1"/>
          <p:nvPr/>
        </p:nvSpPr>
        <p:spPr>
          <a:xfrm>
            <a:off x="558800" y="1090073"/>
            <a:ext cx="92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Paper-1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6FD6822-EFCD-BA45-984B-D123633E7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38" y="4722275"/>
            <a:ext cx="5516891" cy="1719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88D54A2-72ED-D014-725D-E566FB18D5CF}"/>
              </a:ext>
            </a:extLst>
          </p:cNvPr>
          <p:cNvSpPr txBox="1"/>
          <p:nvPr/>
        </p:nvSpPr>
        <p:spPr>
          <a:xfrm>
            <a:off x="624630" y="3943341"/>
            <a:ext cx="60356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/>
              <a:t>Fig :</a:t>
            </a:r>
            <a:r>
              <a:rPr lang="en-IN" sz="1050" dirty="0"/>
              <a:t> </a:t>
            </a:r>
            <a:r>
              <a:rPr lang="en-IN" sz="1050" u="sng" dirty="0">
                <a:latin typeface="Book Antiqua" panose="02040602050305030304" pitchFamily="18" charset="0"/>
              </a:rPr>
              <a:t>AMSE of the three algorithms in different noise backgrounds.</a:t>
            </a:r>
          </a:p>
          <a:p>
            <a:r>
              <a:rPr lang="en-IN" sz="1050" dirty="0">
                <a:latin typeface="Book Antiqua" panose="02040602050305030304" pitchFamily="18" charset="0"/>
              </a:rPr>
              <a:t> (a) Gaussian noise with α =2.0, GSNR = 15 </a:t>
            </a:r>
            <a:r>
              <a:rPr lang="en-IN" sz="1050" dirty="0" err="1">
                <a:latin typeface="Book Antiqua" panose="02040602050305030304" pitchFamily="18" charset="0"/>
              </a:rPr>
              <a:t>dB.</a:t>
            </a:r>
            <a:r>
              <a:rPr lang="en-IN" sz="1050" dirty="0">
                <a:latin typeface="Book Antiqua" panose="02040602050305030304" pitchFamily="18" charset="0"/>
              </a:rPr>
              <a:t> (b) non-Gaussian noise with α =1.4, GSNR = 15 </a:t>
            </a:r>
            <a:r>
              <a:rPr lang="en-IN" sz="1050" dirty="0" err="1">
                <a:latin typeface="Book Antiqua" panose="02040602050305030304" pitchFamily="18" charset="0"/>
              </a:rPr>
              <a:t>dB</a:t>
            </a:r>
            <a:r>
              <a:rPr lang="en-IN" sz="1050" dirty="0" err="1"/>
              <a:t>.</a:t>
            </a:r>
            <a:endParaRPr lang="en-IN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BE79FC-C21C-9485-FE20-62E2B719959D}"/>
              </a:ext>
            </a:extLst>
          </p:cNvPr>
          <p:cNvSpPr txBox="1"/>
          <p:nvPr/>
        </p:nvSpPr>
        <p:spPr>
          <a:xfrm>
            <a:off x="7247898" y="6121399"/>
            <a:ext cx="452880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latin typeface="Book Antiqua" panose="02040602050305030304" pitchFamily="18" charset="0"/>
              </a:rPr>
              <a:t>Fig </a:t>
            </a:r>
            <a:r>
              <a:rPr lang="en-IN" sz="1050" b="1" u="sng" dirty="0">
                <a:latin typeface="Book Antiqua" panose="02040602050305030304" pitchFamily="18" charset="0"/>
              </a:rPr>
              <a:t>: </a:t>
            </a:r>
            <a:r>
              <a:rPr lang="en-IN" sz="1050" u="sng" dirty="0">
                <a:latin typeface="Book Antiqua" panose="02040602050305030304" pitchFamily="18" charset="0"/>
              </a:rPr>
              <a:t>Graphical response of each algorithm with Sub01 under S(1.4, 0,γ, 0).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2EC7CC-326D-4517-04DB-95DF884667C7}"/>
              </a:ext>
            </a:extLst>
          </p:cNvPr>
          <p:cNvSpPr txBox="1"/>
          <p:nvPr/>
        </p:nvSpPr>
        <p:spPr>
          <a:xfrm>
            <a:off x="2120900" y="6442122"/>
            <a:ext cx="24625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latin typeface="Book Antiqua" panose="02040602050305030304" pitchFamily="18" charset="0"/>
              </a:rPr>
              <a:t>Fig : </a:t>
            </a:r>
            <a:r>
              <a:rPr lang="en-US" sz="1050" u="sng" dirty="0">
                <a:latin typeface="Book Antiqua" panose="02040602050305030304" pitchFamily="18" charset="0"/>
              </a:rPr>
              <a:t>ILL Weight Convergence – Sub01</a:t>
            </a:r>
            <a:endParaRPr lang="en-IN" sz="1050" u="sng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249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A0753B-926F-9DE5-8259-2AD672C94E76}"/>
              </a:ext>
            </a:extLst>
          </p:cNvPr>
          <p:cNvSpPr txBox="1"/>
          <p:nvPr/>
        </p:nvSpPr>
        <p:spPr>
          <a:xfrm>
            <a:off x="575734" y="677334"/>
            <a:ext cx="5352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Book Antiqua" panose="02040602050305030304" pitchFamily="18" charset="0"/>
              </a:rPr>
              <a:t>Table : </a:t>
            </a:r>
            <a:r>
              <a:rPr lang="en-IN" sz="1200" b="1" u="sng" dirty="0">
                <a:latin typeface="Book Antiqua" panose="02040602050305030304" pitchFamily="18" charset="0"/>
              </a:rPr>
              <a:t>OPTIMAL EVALUATION RESPONSE FOR EACH 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187BCC-00B0-EF54-7D9B-F5C86FD194F6}"/>
              </a:ext>
            </a:extLst>
          </p:cNvPr>
          <p:cNvSpPr txBox="1"/>
          <p:nvPr/>
        </p:nvSpPr>
        <p:spPr>
          <a:xfrm>
            <a:off x="516008" y="5007381"/>
            <a:ext cx="9255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Paper-2</a:t>
            </a:r>
            <a:endParaRPr lang="en-IN" b="1" dirty="0"/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F0DDB6-6D94-68F2-19C0-5D2C9BE526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284" y="461431"/>
            <a:ext cx="4622982" cy="35094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4D1C89-82AA-FD2E-DC10-A4FB7B58C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830" y="4989267"/>
            <a:ext cx="4265632" cy="12879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85CDB2-1A03-26E8-CECA-49E9E5D52A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284" y="4447860"/>
            <a:ext cx="3397094" cy="22341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A40D39B-403B-13E0-9C85-9BBA60EA839A}"/>
              </a:ext>
            </a:extLst>
          </p:cNvPr>
          <p:cNvSpPr txBox="1"/>
          <p:nvPr/>
        </p:nvSpPr>
        <p:spPr>
          <a:xfrm>
            <a:off x="6918480" y="4070864"/>
            <a:ext cx="477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Fig : </a:t>
            </a:r>
            <a:r>
              <a:rPr lang="en-IN" sz="1200" u="sng" dirty="0"/>
              <a:t>Convergence behaviour of algorithms in different noise backgrounds</a:t>
            </a:r>
            <a:r>
              <a:rPr lang="en-IN" sz="1200" dirty="0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0FEBBA-2CA6-DCCC-30F1-A651375870EC}"/>
              </a:ext>
            </a:extLst>
          </p:cNvPr>
          <p:cNvSpPr txBox="1"/>
          <p:nvPr/>
        </p:nvSpPr>
        <p:spPr>
          <a:xfrm>
            <a:off x="1537278" y="6392334"/>
            <a:ext cx="2349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Fig : </a:t>
            </a:r>
            <a:r>
              <a:rPr lang="en-US" sz="1200" u="sng" dirty="0"/>
              <a:t>Weights of ILHSAF over Sub01</a:t>
            </a:r>
            <a:endParaRPr lang="en-IN" sz="1200" u="sng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FEA3491-3EA5-7DE1-2C97-FDFE0447D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655409"/>
              </p:ext>
            </p:extLst>
          </p:nvPr>
        </p:nvGraphicFramePr>
        <p:xfrm>
          <a:off x="1134532" y="1028509"/>
          <a:ext cx="4885268" cy="38865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404">
                  <a:extLst>
                    <a:ext uri="{9D8B030D-6E8A-4147-A177-3AD203B41FA5}">
                      <a16:colId xmlns:a16="http://schemas.microsoft.com/office/drawing/2014/main" val="4204404722"/>
                    </a:ext>
                  </a:extLst>
                </a:gridCol>
                <a:gridCol w="271404">
                  <a:extLst>
                    <a:ext uri="{9D8B030D-6E8A-4147-A177-3AD203B41FA5}">
                      <a16:colId xmlns:a16="http://schemas.microsoft.com/office/drawing/2014/main" val="2804814324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56707679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2407425302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2188635581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690053179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250928062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2284083897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2267566096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3038196027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11130156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433290771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611215737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932318382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878261124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3653632580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3626367751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1543490748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850819381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620159527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474056351"/>
                    </a:ext>
                  </a:extLst>
                </a:gridCol>
                <a:gridCol w="217123">
                  <a:extLst>
                    <a:ext uri="{9D8B030D-6E8A-4147-A177-3AD203B41FA5}">
                      <a16:colId xmlns:a16="http://schemas.microsoft.com/office/drawing/2014/main" val="720480690"/>
                    </a:ext>
                  </a:extLst>
                </a:gridCol>
              </a:tblGrid>
              <a:tr h="8153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 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AMSE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PRD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RMSE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SNR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500870"/>
                  </a:ext>
                </a:extLst>
              </a:tr>
              <a:tr h="1593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 dirty="0">
                          <a:effectLst/>
                        </a:rPr>
                        <a:t>Algorithm</a:t>
                      </a:r>
                      <a:endParaRPr lang="en-IN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IPNLMS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Llncosh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IPNLMS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Llncosh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IPNLMS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Llncosh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IPNLMS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LHSAF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Llncosh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NLMS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179152"/>
                  </a:ext>
                </a:extLst>
              </a:tr>
              <a:tr h="15936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Subject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Alpha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013457"/>
                  </a:ext>
                </a:extLst>
              </a:tr>
              <a:tr h="159366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sub01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1.4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0.293982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0.293193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0.34878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0.299203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0.298571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1440.583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1439.264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1564.919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1452.529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1452.388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0.128349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0.124762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0.255241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 dirty="0">
                          <a:effectLst/>
                        </a:rPr>
                        <a:t>0.145303</a:t>
                      </a: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0.144868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12.45113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12.66002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6.630256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11.40859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11.26559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378617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1.6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0.062571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0.054105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0.118393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0.067665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0.054796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660.1586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613.3532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892.7421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684.818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618.237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0.128077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0.086745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0.256234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0.144836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0.092661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4.693564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8.609968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-1.18494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3.662586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7.753434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2646541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1.8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0.027647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0.018179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0.086829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0.03266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0.018029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433.0616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346.3321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744.7921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468.5823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346.8257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0.127947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0.080178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0.261239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0.144516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0.081247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-1.37754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3.405089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-7.42069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-2.39682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3.065475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852164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0.020429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0.010741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0.078966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0.025353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0.010475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368.4057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255.6569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702.7263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408.5508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255.2128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0.12777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0.078413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0.259756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0.144154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0.078493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-5.67616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-0.66062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-11.6896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-6.68808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-0.86012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87290"/>
                  </a:ext>
                </a:extLst>
              </a:tr>
              <a:tr h="159366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sub03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1.4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0.02545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0.025614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0.040496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0.061031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0.026737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332.4818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332.4673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415.7151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502.7786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340.0304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0.03405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0.037411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0.118322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0.174531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0.04998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13.37128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12.53117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3.588923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0.852577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9.992714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870866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1.6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0.005105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0.004913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0.020466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0.040505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0.005324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151.1761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146.5285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288.5914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395.8839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153.0002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0.033616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0.031356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0.119428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0.174169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0.037234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7.269502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7.817978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-2.70193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-5.35868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6.293094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71226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1.8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0.002028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0.001792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0.017163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0.03741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0.002095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96.84977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89.40107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260.0439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374.3746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97.1095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0.03348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0.030238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0.118576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0.174139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0.03484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4.410405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5.235818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-5.55126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-8.25534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3.974179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3320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0.001389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0.001148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0.016029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0.036883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0.001431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80.29799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71.9505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250.27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369.9686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80.68497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0.033385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0.029893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0.116803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0.174389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0.034303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3.47638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4.372607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-6.40175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-9.22629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3.148966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426066"/>
                  </a:ext>
                </a:extLst>
              </a:tr>
              <a:tr h="159366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sub05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1.4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0.041593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0.042135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0.055608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0.07428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0.043245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669.5998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666.1024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768.737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875.0497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675.42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0.034191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0.041105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0.114569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0.16839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0.051982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14.65633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13.31292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5.16758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2.462726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11.27109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272379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1.6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0.007728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0.007495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0.021602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0.040615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0.007727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304.5026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285.2517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473.6261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622.9493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289.4994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0.033346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0.030137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0.114386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0.168504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0.033354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7.535082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8.481223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-2.19206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-4.9075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7.623252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53004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 dirty="0">
                          <a:effectLst/>
                        </a:rPr>
                        <a:t>1.8</a:t>
                      </a:r>
                      <a:endParaRPr lang="en-IN" sz="5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0.0026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0.002275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0.016413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0.035469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0.002361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194.2883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162.9505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408.6859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568.5742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165.7056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0.033077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0.028145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0.113866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0.168329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0.029438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2.741474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4.17879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-7.03211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-9.77542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3.791805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809902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0.001534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0.001195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0.015579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0.03437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0.001254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159.9225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122.8669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394.2167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555.5532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125.4085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0.032959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0.027598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0.114728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0.168188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0.028545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0.311819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1.875888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-9.55456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-12.2355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1.583764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682279"/>
                  </a:ext>
                </a:extLst>
              </a:tr>
              <a:tr h="159366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sub07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1.4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0.05443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0.055018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0.070572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0.089193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0.058092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446.2392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449.7113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485.287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522.6397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460.2067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0.058413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0.0642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0.121103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0.158902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0.084255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11.84314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10.9434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7.338399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6.223934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8.664367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5895228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1.6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0.011747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0.011539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0.028464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0.046327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0.012976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208.7393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208.8217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277.1449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324.667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217.8512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0.057868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0.0567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0.121987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0.158446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0.067594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5.098503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5.212023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0.493572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-0.55987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3.765582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939895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1.8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0.005268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0.004991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0.021455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0.039998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0.006154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141.0686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139.825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222.1863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273.798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150.2491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0.05759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0.055622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0.120514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0.158576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0.064607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1.376065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1.621775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-3.1905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-4.30937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0.399275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38867"/>
                  </a:ext>
                </a:extLst>
              </a:tr>
              <a:tr h="23735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</a:t>
                      </a:r>
                      <a:endParaRPr lang="en-IN" sz="5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0.003922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0.003636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0.019977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0.038516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0.004748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122.2415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120.452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207.5504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259.3957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131.9864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0.057523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0.055364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0.120036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0.158282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0.063962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-0.09447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0.18308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-4.6415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>
                          <a:effectLst/>
                        </a:rPr>
                        <a:t>-5.76828</a:t>
                      </a:r>
                      <a:endParaRPr lang="en-IN" sz="5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500" u="none" strike="noStrike" dirty="0">
                          <a:effectLst/>
                        </a:rPr>
                        <a:t>-0.99256</a:t>
                      </a:r>
                      <a:endParaRPr lang="en-IN" sz="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75" marR="5975" marT="5975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25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36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E90DDBB-A0BF-92E9-3BF3-4E232D2BC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183" y="245491"/>
            <a:ext cx="4055764" cy="4953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1FBE50-FD8F-0A4A-1CB7-5420704B9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1499" y="245491"/>
            <a:ext cx="3987800" cy="4953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69B1E6-F322-0EE4-E31D-A31948A72428}"/>
              </a:ext>
            </a:extLst>
          </p:cNvPr>
          <p:cNvSpPr txBox="1"/>
          <p:nvPr/>
        </p:nvSpPr>
        <p:spPr>
          <a:xfrm>
            <a:off x="5269261" y="5232395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/>
              <a:t>(a) α = 2.0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555D3-EE64-ABED-528E-8BCF32626F88}"/>
              </a:ext>
            </a:extLst>
          </p:cNvPr>
          <p:cNvSpPr txBox="1"/>
          <p:nvPr/>
        </p:nvSpPr>
        <p:spPr>
          <a:xfrm>
            <a:off x="9270751" y="5232395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(</a:t>
            </a:r>
            <a:r>
              <a:rPr lang="en-IN" sz="1400" dirty="0"/>
              <a:t>b) α = 1.4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814791-CF64-652C-E4ED-C60540976B45}"/>
              </a:ext>
            </a:extLst>
          </p:cNvPr>
          <p:cNvSpPr txBox="1"/>
          <p:nvPr/>
        </p:nvSpPr>
        <p:spPr>
          <a:xfrm>
            <a:off x="3082326" y="4313372"/>
            <a:ext cx="75533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Amplitude</a:t>
            </a:r>
            <a:endParaRPr lang="en-IN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54F8224-FB2B-AB67-7CFE-60BE8DB0F935}"/>
              </a:ext>
            </a:extLst>
          </p:cNvPr>
          <p:cNvCxnSpPr/>
          <p:nvPr/>
        </p:nvCxnSpPr>
        <p:spPr>
          <a:xfrm flipV="1">
            <a:off x="3437253" y="3686838"/>
            <a:ext cx="0" cy="6265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A6867E1-E6B5-CEA9-52AE-0854581D984A}"/>
              </a:ext>
            </a:extLst>
          </p:cNvPr>
          <p:cNvSpPr txBox="1"/>
          <p:nvPr/>
        </p:nvSpPr>
        <p:spPr>
          <a:xfrm>
            <a:off x="4861760" y="5517119"/>
            <a:ext cx="71595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Fig. </a:t>
            </a:r>
            <a:r>
              <a:rPr lang="en-IN" sz="1400" u="sng" dirty="0"/>
              <a:t>Graphical responses of FECG extraction with subject-01 under different noise background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000310-D74B-E27E-70B0-7473C83992C8}"/>
              </a:ext>
            </a:extLst>
          </p:cNvPr>
          <p:cNvSpPr txBox="1"/>
          <p:nvPr/>
        </p:nvSpPr>
        <p:spPr>
          <a:xfrm>
            <a:off x="8326603" y="5193954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70E96A-7057-F25B-3FCB-CD64868C17C5}"/>
              </a:ext>
            </a:extLst>
          </p:cNvPr>
          <p:cNvSpPr txBox="1"/>
          <p:nvPr/>
        </p:nvSpPr>
        <p:spPr>
          <a:xfrm>
            <a:off x="584200" y="8551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ECAE98-D2E1-A298-E4EC-BDA71D116D34}"/>
              </a:ext>
            </a:extLst>
          </p:cNvPr>
          <p:cNvSpPr txBox="1"/>
          <p:nvPr/>
        </p:nvSpPr>
        <p:spPr>
          <a:xfrm>
            <a:off x="0" y="1039799"/>
            <a:ext cx="3865398" cy="3716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Maternal ECG is largely removed.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 err="1"/>
              <a:t>Fetal</a:t>
            </a:r>
            <a:r>
              <a:rPr lang="en-IN" sz="1700" dirty="0"/>
              <a:t> peaks become more visible.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ILHSAF preserves morphology better.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AMSE decreases with iterations.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Gaussian noise converges faster.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/>
              <a:t>Alpha-stable noise slows convergence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82A01D-D166-5924-BD02-DF7785368171}"/>
              </a:ext>
            </a:extLst>
          </p:cNvPr>
          <p:cNvSpPr txBox="1"/>
          <p:nvPr/>
        </p:nvSpPr>
        <p:spPr>
          <a:xfrm>
            <a:off x="322217" y="531967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Observation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5541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45B2C5-E358-D21D-0342-A461F5EE7F5D}"/>
              </a:ext>
            </a:extLst>
          </p:cNvPr>
          <p:cNvSpPr txBox="1"/>
          <p:nvPr/>
        </p:nvSpPr>
        <p:spPr>
          <a:xfrm>
            <a:off x="702733" y="499533"/>
            <a:ext cx="1636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Book Antiqua" panose="02040602050305030304" pitchFamily="18" charset="0"/>
              </a:rPr>
              <a:t>Observation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D673B0-7D21-9FB4-2A82-763A3BD5EBC5}"/>
              </a:ext>
            </a:extLst>
          </p:cNvPr>
          <p:cNvSpPr txBox="1"/>
          <p:nvPr/>
        </p:nvSpPr>
        <p:spPr>
          <a:xfrm>
            <a:off x="702732" y="4131734"/>
            <a:ext cx="68918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Key Findings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Average results computed over four abdominal channels.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Tested on multiple subjects.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Evaluated across four alpha values.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ILHSAF consistently provides competitive RMSE, PRD and SNR.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Performance remains stable under heavy-tailed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Highlight one or two best rows.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C9B52-F878-3A80-FEE0-61A04F26A20C}"/>
              </a:ext>
            </a:extLst>
          </p:cNvPr>
          <p:cNvSpPr txBox="1"/>
          <p:nvPr/>
        </p:nvSpPr>
        <p:spPr>
          <a:xfrm>
            <a:off x="702732" y="1084527"/>
            <a:ext cx="60866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ILHSAF maintains stable learning under impulsive noise.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Llncosh</a:t>
            </a:r>
            <a:r>
              <a:rPr lang="en-IN" dirty="0"/>
              <a:t> converges faster than NLMS in our implementation.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Weights initially change rapidly.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Later stabilize after adaptation.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Stable weights indicate successful convergence.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Dominant coefficients capture maternal ECG characteristics.</a:t>
            </a: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C7D49A-AF0C-A548-BBBD-26632CD6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84664"/>
            <a:ext cx="2560320" cy="3213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3629A4-7CB4-05D7-6664-A8831EB42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35" y="1384664"/>
            <a:ext cx="2433253" cy="32134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C9A32B5-23F3-EC56-B565-8E83FF49684E}"/>
              </a:ext>
            </a:extLst>
          </p:cNvPr>
          <p:cNvSpPr txBox="1"/>
          <p:nvPr/>
        </p:nvSpPr>
        <p:spPr>
          <a:xfrm>
            <a:off x="7718457" y="4736737"/>
            <a:ext cx="41697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u="sng" dirty="0"/>
              <a:t>Convergence behaviour of algorithms in different noise backgrounds. </a:t>
            </a:r>
          </a:p>
        </p:txBody>
      </p:sp>
    </p:spTree>
    <p:extLst>
      <p:ext uri="{BB962C8B-B14F-4D97-AF65-F5344CB8AC3E}">
        <p14:creationId xmlns:p14="http://schemas.microsoft.com/office/powerpoint/2010/main" val="1991473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1604</Words>
  <Application>Microsoft Office PowerPoint</Application>
  <PresentationFormat>Widescreen</PresentationFormat>
  <Paragraphs>586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Arial</vt:lpstr>
      <vt:lpstr>Book Antiqua</vt:lpstr>
      <vt:lpstr>Calibri</vt:lpstr>
      <vt:lpstr>Calibri Light</vt:lpstr>
      <vt:lpstr>Cambria Math</vt:lpstr>
      <vt:lpstr>Office Theme</vt:lpstr>
      <vt:lpstr>Fetal ECG Extraction under Alpha-Stable Noise</vt:lpstr>
      <vt:lpstr>Problem Statement</vt:lpstr>
      <vt:lpstr>System Model </vt:lpstr>
      <vt:lpstr>Alpha-Stable Noise Model</vt:lpstr>
      <vt:lpstr>Adaptive Filtering Workflow</vt:lpstr>
      <vt:lpstr>Normalized LMS (NLMS) Algorithm</vt:lpstr>
      <vt:lpstr>Improved Proportionate NLMS (IPNLMS)</vt:lpstr>
      <vt:lpstr>Improved Least Lncosh (ILL) Algorithm</vt:lpstr>
      <vt:lpstr>Logarithmic Hyperbolic Secant Algorithms</vt:lpstr>
      <vt:lpstr>ILHSAF Algorithm</vt:lpstr>
      <vt:lpstr>Performance Metrics</vt:lpstr>
      <vt:lpstr>Signal Reconstruction Results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Kumar</dc:creator>
  <cp:lastModifiedBy>Ankit Kumar</cp:lastModifiedBy>
  <cp:revision>1</cp:revision>
  <dcterms:created xsi:type="dcterms:W3CDTF">2026-08-16T19:37:06Z</dcterms:created>
  <dcterms:modified xsi:type="dcterms:W3CDTF">2026-08-17T20:53:54Z</dcterms:modified>
</cp:coreProperties>
</file>